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93958dc-556b-308d-bdbf-d402a8a5b618}">
          <p14:sldIdLst>
            <p14:sldId id="256"/>
            <p14:sldId id="257"/>
            <p14:sldId id="258"/>
          </p14:sldIdLst>
        </p14:section>
        <p14:section name="How it works" id="{cf9e5f61-33ef-5b4d-8656-e7e2d4870881}">
          <p14:sldIdLst>
            <p14:sldId id="259"/>
            <p14:sldId id="260"/>
          </p14:sldIdLst>
        </p14:section>
        <p14:section name="Behind the agent" id="{85b9b867-7177-7fd0-645b-93fe243e4fd3}">
          <p14:sldIdLst>
            <p14:sldId id="261"/>
            <p14:sldId id="262"/>
          </p14:sldIdLst>
        </p14:section>
        <p14:section name="Front of the agent" id="{b4794673-6d96-c92a-d023-dd9c512c6065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Framework" id="{20c564e8-5f2f-d43b-6079-e561b56c5d62}">
          <p14:sldIdLst>
            <p14:sldId id="269"/>
            <p14:sldId id="270"/>
            <p14:sldId id="271"/>
          </p14:sldIdLst>
        </p14:section>
        <p14:section name="Future" id="{36796c97-c02a-9a1e-7040-def34ab3db38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CyberSec AI Agent: a self-hosted platform that analyses security logs, correlates attacks, investigates them with a local uncensored AI model and produces branded forensic reports - fully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problems: noise, privacy, no GPUs, and slow manual correlation. The agent solves these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numbers. Everything runs on the customer's own server; the only optional online feature is the threat-intelligence look-up, which is off until keys are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stages. Analysis is streaming, so multi-GB exports are processed without loading everything into memory (about 9,000 events per second on a CPU).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rule carries severity, confidence, ATT&amp;CK mapping, false-positive guidance and the telemetry needed to validate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lanes: inputs, the deterministic engine, context and intelligence, outputs. The AI never sees raw logs - it receives a compact case file built by investigator.py.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12,800 lines of Python and HTML in a dozen modules - each one testable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Single-file web app: no build step, dark and light themes, works in any modern browser, protected by a strict Content-Security-Policy.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event records what the firewall, IDS, VPN, server or machine did - allowed, blocked, served HTTP 200, executed. Red means the attacker succeeded; green means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uncensored so it explains attacker techniques openly, but its output is validated against the evidence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Malicious results automatically join the local IoC feed, so the next analysis matches them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separate window. The receiver has a token, an optional source allow-list, memory and disk budgets, and keeps a 7-day raw spool that survives restarts.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case file includes this organisation memory, so the local model answers with what the team already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dependency-light: the whole core runs on the Python standard library, which makes it portable (USB stick, air-gapped networks) and easy to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tool can honestly be called 100% secure; what matters is a repeatable process: review, attack, fix, test. Re-test after every release and before exposing the agent beyond a trusted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setup script tunes Ollama for CPU speed (model kept in RAM, flash attention, one request gets all cores) and installs the agent as a systemd service allowed to bind port 443 without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is in place; the roadmap adds team features, integrations and automation - always with a human approval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 Demo: upload the sample SIEM dataset, open the incident, the attack diagram, the Forensics tabs and the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6035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CyberSec AI Agent  ·  Tech Guardians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CyberSec AI Agent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Offline, AI-powered SIEM log analysis, investigation and forensics platform</a:t>
            </a:r>
            <a:endParaRPr lang="en-US" sz="18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5120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Tech Guardians  ·  Designed &amp; developed by Rajesh Nehra, Master in Cyber Security</a:t>
            </a:r>
            <a:endParaRPr lang="en-US" sz="1300" dirty="0"/>
          </a:p>
        </p:txBody>
      </p:sp>
      <p:sp>
        <p:nvSpPr>
          <p:cNvPr id="5" name="icon-bg-2"/>
          <p:cNvSpPr/>
          <p:nvPr/>
        </p:nvSpPr>
        <p:spPr>
          <a:xfrm>
            <a:off x="548640" y="914400"/>
            <a:ext cx="731520" cy="73152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6" name="icon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089965"/>
            <a:ext cx="380390" cy="380390"/>
          </a:xfrm>
          <a:prstGeom prst="rect">
            <a:avLst/>
          </a:prstGeom>
        </p:spPr>
      </p:pic>
      <p:sp>
        <p:nvSpPr>
          <p:cNvPr id="7" name="frame-4"/>
          <p:cNvSpPr/>
          <p:nvPr/>
        </p:nvSpPr>
        <p:spPr>
          <a:xfrm>
            <a:off x="7260336" y="1179576"/>
            <a:ext cx="4453128" cy="3125978"/>
          </a:xfrm>
          <a:prstGeom prst="roundRect">
            <a:avLst>
              <a:gd name="adj" fmla="val 2340"/>
            </a:avLst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A2B">
                <a:alpha val="18000"/>
              </a:srgbClr>
            </a:outerShdw>
          </a:effectLst>
        </p:spPr>
      </p:sp>
      <p:pic>
        <p:nvPicPr>
          <p:cNvPr id="8" name="screenshot-5" descr="/home/user/CyberSecuirty/ai-agent/docs/screenshot-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34440"/>
            <a:ext cx="4343400" cy="3016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we built it</a:t>
            </a:r>
            <a:endParaRPr lang="en-US" sz="3200" dirty="0"/>
          </a:p>
        </p:txBody>
      </p:sp>
      <p:sp>
        <p:nvSpPr>
          <p:cNvPr id="3" name="icon-bg-6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4" name="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479499"/>
            <a:ext cx="332842" cy="332842"/>
          </a:xfrm>
          <a:prstGeom prst="rect">
            <a:avLst/>
          </a:prstGeom>
        </p:spPr>
      </p:pic>
      <p:sp>
        <p:nvSpPr>
          <p:cNvPr id="5" name="text-8"/>
          <p:cNvSpPr txBox="1"/>
          <p:nvPr/>
        </p:nvSpPr>
        <p:spPr>
          <a:xfrm>
            <a:off x="1417320" y="1307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Alert overload</a:t>
            </a:r>
            <a:endParaRPr lang="en-US" sz="1800" dirty="0"/>
          </a:p>
        </p:txBody>
      </p:sp>
      <p:sp>
        <p:nvSpPr>
          <p:cNvPr id="6" name="text-9"/>
          <p:cNvSpPr txBox="1"/>
          <p:nvPr/>
        </p:nvSpPr>
        <p:spPr>
          <a:xfrm>
            <a:off x="1417320" y="16733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SIEMs raise thousands of events; analysts lose the real attack in the noise.</a:t>
            </a:r>
            <a:endParaRPr lang="en-US" sz="1400" dirty="0"/>
          </a:p>
        </p:txBody>
      </p:sp>
      <p:sp>
        <p:nvSpPr>
          <p:cNvPr id="7" name="icon-bg-10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8" name="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668219"/>
            <a:ext cx="332842" cy="332842"/>
          </a:xfrm>
          <a:prstGeom prst="rect">
            <a:avLst/>
          </a:prstGeom>
        </p:spPr>
      </p:pic>
      <p:sp>
        <p:nvSpPr>
          <p:cNvPr id="9" name="text-12"/>
          <p:cNvSpPr txBox="1"/>
          <p:nvPr/>
        </p:nvSpPr>
        <p:spPr>
          <a:xfrm>
            <a:off x="1417320" y="24963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Logs are sensitive</a:t>
            </a:r>
            <a:endParaRPr lang="en-US" sz="1800" dirty="0"/>
          </a:p>
        </p:txBody>
      </p:sp>
      <p:sp>
        <p:nvSpPr>
          <p:cNvPr id="10" name="text-13"/>
          <p:cNvSpPr txBox="1"/>
          <p:nvPr/>
        </p:nvSpPr>
        <p:spPr>
          <a:xfrm>
            <a:off x="1417320" y="2862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Credentials, IPs and customer data must not be sent to a cloud AI.</a:t>
            </a:r>
            <a:endParaRPr lang="en-US" sz="1400" dirty="0"/>
          </a:p>
        </p:txBody>
      </p:sp>
      <p:sp>
        <p:nvSpPr>
          <p:cNvPr id="11" name="icon-bg-14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2" name="icon-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856939"/>
            <a:ext cx="332842" cy="332842"/>
          </a:xfrm>
          <a:prstGeom prst="rect">
            <a:avLst/>
          </a:prstGeom>
        </p:spPr>
      </p:pic>
      <p:sp>
        <p:nvSpPr>
          <p:cNvPr id="13" name="text-16"/>
          <p:cNvSpPr txBox="1"/>
          <p:nvPr/>
        </p:nvSpPr>
        <p:spPr>
          <a:xfrm>
            <a:off x="1417320" y="3685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GPU, small budget</a:t>
            </a:r>
            <a:endParaRPr lang="en-US" sz="1800" dirty="0"/>
          </a:p>
        </p:txBody>
      </p:sp>
      <p:sp>
        <p:nvSpPr>
          <p:cNvPr id="14" name="text-17"/>
          <p:cNvSpPr txBox="1"/>
          <p:nvPr/>
        </p:nvSpPr>
        <p:spPr>
          <a:xfrm>
            <a:off x="1417320" y="40507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Most SOC servers are CPU-only; commercial AI SOC tools are costly.</a:t>
            </a:r>
            <a:endParaRPr lang="en-US" sz="1400" dirty="0"/>
          </a:p>
        </p:txBody>
      </p:sp>
      <p:sp>
        <p:nvSpPr>
          <p:cNvPr id="15" name="icon-bg-18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6" name="icon-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5045659"/>
            <a:ext cx="332842" cy="332842"/>
          </a:xfrm>
          <a:prstGeom prst="rect">
            <a:avLst/>
          </a:prstGeom>
        </p:spPr>
      </p:pic>
      <p:sp>
        <p:nvSpPr>
          <p:cNvPr id="17" name="text-20"/>
          <p:cNvSpPr txBox="1"/>
          <p:nvPr/>
        </p:nvSpPr>
        <p:spPr>
          <a:xfrm>
            <a:off x="1417320" y="4873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Slow investigations</a:t>
            </a:r>
            <a:endParaRPr lang="en-US" sz="1800" dirty="0"/>
          </a:p>
        </p:txBody>
      </p:sp>
      <p:sp>
        <p:nvSpPr>
          <p:cNvPr id="18" name="text-21"/>
          <p:cNvSpPr txBox="1"/>
          <p:nvPr/>
        </p:nvSpPr>
        <p:spPr>
          <a:xfrm>
            <a:off x="1417320" y="52395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Correlating firewall, VPN, Windows and web logs by hand takes hours.</a:t>
            </a:r>
            <a:endParaRPr lang="en-US" sz="1400" dirty="0"/>
          </a:p>
        </p:txBody>
      </p:sp>
      <p:sp>
        <p:nvSpPr>
          <p:cNvPr id="19" name="card-22"/>
          <p:cNvSpPr/>
          <p:nvPr/>
        </p:nvSpPr>
        <p:spPr>
          <a:xfrm>
            <a:off x="6903720" y="1325880"/>
            <a:ext cx="4736592" cy="4526280"/>
          </a:xfrm>
          <a:prstGeom prst="roundRect">
            <a:avLst>
              <a:gd name="adj" fmla="val 2424"/>
            </a:avLst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sp>
        <p:nvSpPr>
          <p:cNvPr id="20" name="text-23"/>
          <p:cNvSpPr txBox="1"/>
          <p:nvPr/>
        </p:nvSpPr>
        <p:spPr>
          <a:xfrm>
            <a:off x="7269480" y="1600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Our answer</a:t>
            </a:r>
            <a:endParaRPr lang="en-US" sz="2000" dirty="0"/>
          </a:p>
        </p:txBody>
      </p:sp>
      <p:sp>
        <p:nvSpPr>
          <p:cNvPr id="21" name="text-24"/>
          <p:cNvSpPr txBox="1"/>
          <p:nvPr/>
        </p:nvSpPr>
        <p:spPr>
          <a:xfrm>
            <a:off x="7269480" y="2103120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One portable tool that turns raw logs into a verified attack story in minutes: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Detects, correlates and scores attacks with explainable rules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Investigates with a local, uncensored AI - nothing leaves the server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Shows what each firewall, server and machine did, step by step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Produces branded A4 reports, forensic guides and live alerts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agent at a glance</a:t>
            </a:r>
            <a:endParaRPr lang="en-US" sz="3200" dirty="0"/>
          </a:p>
        </p:txBody>
      </p:sp>
      <p:sp>
        <p:nvSpPr>
          <p:cNvPr id="3" name="card-25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text-26"/>
          <p:cNvSpPr txBox="1"/>
          <p:nvPr/>
        </p:nvSpPr>
        <p:spPr>
          <a:xfrm>
            <a:off x="822960" y="1554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</a:t>
            </a:r>
            <a:endParaRPr lang="en-US" sz="5400" dirty="0"/>
          </a:p>
        </p:txBody>
      </p:sp>
      <p:sp>
        <p:nvSpPr>
          <p:cNvPr id="5" name="text-27"/>
          <p:cNvSpPr txBox="1"/>
          <p:nvPr/>
        </p:nvSpPr>
        <p:spPr>
          <a:xfrm>
            <a:off x="822960" y="2423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detection rules</a:t>
            </a:r>
            <a:endParaRPr lang="en-US" sz="1600" dirty="0"/>
          </a:p>
        </p:txBody>
      </p:sp>
      <p:sp>
        <p:nvSpPr>
          <p:cNvPr id="6" name="text-28"/>
          <p:cNvSpPr txBox="1"/>
          <p:nvPr/>
        </p:nvSpPr>
        <p:spPr>
          <a:xfrm>
            <a:off x="822960" y="27614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signatures, correlation, UEBA, network, forensics</a:t>
            </a:r>
            <a:endParaRPr lang="en-US" sz="1200" dirty="0"/>
          </a:p>
        </p:txBody>
      </p:sp>
      <p:sp>
        <p:nvSpPr>
          <p:cNvPr id="7" name="card-29"/>
          <p:cNvSpPr/>
          <p:nvPr/>
        </p:nvSpPr>
        <p:spPr>
          <a:xfrm>
            <a:off x="4315968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-30"/>
          <p:cNvSpPr txBox="1"/>
          <p:nvPr/>
        </p:nvSpPr>
        <p:spPr>
          <a:xfrm>
            <a:off x="4590288" y="1554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5400" dirty="0"/>
          </a:p>
        </p:txBody>
      </p:sp>
      <p:sp>
        <p:nvSpPr>
          <p:cNvPr id="9" name="text-31"/>
          <p:cNvSpPr txBox="1"/>
          <p:nvPr/>
        </p:nvSpPr>
        <p:spPr>
          <a:xfrm>
            <a:off x="4590288" y="2423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 formats</a:t>
            </a:r>
            <a:endParaRPr lang="en-US" sz="1600" dirty="0"/>
          </a:p>
        </p:txBody>
      </p:sp>
      <p:sp>
        <p:nvSpPr>
          <p:cNvPr id="10" name="text-32"/>
          <p:cNvSpPr txBox="1"/>
          <p:nvPr/>
        </p:nvSpPr>
        <p:spPr>
          <a:xfrm>
            <a:off x="4590288" y="27614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CSV, JSON, JSONL, Windows XML, syslog, CEF, LEEF, web, .gz</a:t>
            </a:r>
            <a:endParaRPr lang="en-US" sz="1200" dirty="0"/>
          </a:p>
        </p:txBody>
      </p:sp>
      <p:sp>
        <p:nvSpPr>
          <p:cNvPr id="11" name="card-33"/>
          <p:cNvSpPr/>
          <p:nvPr/>
        </p:nvSpPr>
        <p:spPr>
          <a:xfrm>
            <a:off x="8083296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2" name="text-34"/>
          <p:cNvSpPr txBox="1"/>
          <p:nvPr/>
        </p:nvSpPr>
        <p:spPr>
          <a:xfrm>
            <a:off x="8357616" y="1554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400" dirty="0"/>
          </a:p>
        </p:txBody>
      </p:sp>
      <p:sp>
        <p:nvSpPr>
          <p:cNvPr id="13" name="text-35"/>
          <p:cNvSpPr txBox="1"/>
          <p:nvPr/>
        </p:nvSpPr>
        <p:spPr>
          <a:xfrm>
            <a:off x="8357616" y="2423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threat-intel sources</a:t>
            </a:r>
            <a:endParaRPr lang="en-US" sz="1600" dirty="0"/>
          </a:p>
        </p:txBody>
      </p:sp>
      <p:sp>
        <p:nvSpPr>
          <p:cNvPr id="14" name="text-36"/>
          <p:cNvSpPr txBox="1"/>
          <p:nvPr/>
        </p:nvSpPr>
        <p:spPr>
          <a:xfrm>
            <a:off x="8357616" y="27614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OTX, AbuseIPDB, VirusTotal, URLhaus, ThreatFox, MalwareBazaar, PhishTank, CVE</a:t>
            </a:r>
            <a:endParaRPr lang="en-US" sz="1200" dirty="0"/>
          </a:p>
        </p:txBody>
      </p:sp>
      <p:sp>
        <p:nvSpPr>
          <p:cNvPr id="15" name="card-37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6" name="text-38"/>
          <p:cNvSpPr txBox="1"/>
          <p:nvPr/>
        </p:nvSpPr>
        <p:spPr>
          <a:xfrm>
            <a:off x="822960" y="3931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400" dirty="0"/>
          </a:p>
        </p:txBody>
      </p:sp>
      <p:sp>
        <p:nvSpPr>
          <p:cNvPr id="17" name="text-39"/>
          <p:cNvSpPr txBox="1"/>
          <p:nvPr/>
        </p:nvSpPr>
        <p:spPr>
          <a:xfrm>
            <a:off x="822960" y="4800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 sections</a:t>
            </a:r>
            <a:endParaRPr lang="en-US" sz="1600" dirty="0"/>
          </a:p>
        </p:txBody>
      </p:sp>
      <p:sp>
        <p:nvSpPr>
          <p:cNvPr id="18" name="text-40"/>
          <p:cNvSpPr txBox="1"/>
          <p:nvPr/>
        </p:nvSpPr>
        <p:spPr>
          <a:xfrm>
            <a:off x="822960" y="51389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branded A4 PDF with attack diagram and forensic steps</a:t>
            </a:r>
            <a:endParaRPr lang="en-US" sz="1200" dirty="0"/>
          </a:p>
        </p:txBody>
      </p:sp>
      <p:sp>
        <p:nvSpPr>
          <p:cNvPr id="19" name="card-41"/>
          <p:cNvSpPr/>
          <p:nvPr/>
        </p:nvSpPr>
        <p:spPr>
          <a:xfrm>
            <a:off x="4315968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0" name="text-42"/>
          <p:cNvSpPr txBox="1"/>
          <p:nvPr/>
        </p:nvSpPr>
        <p:spPr>
          <a:xfrm>
            <a:off x="4590288" y="3931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5400" dirty="0"/>
          </a:p>
        </p:txBody>
      </p:sp>
      <p:sp>
        <p:nvSpPr>
          <p:cNvPr id="21" name="text-43"/>
          <p:cNvSpPr txBox="1"/>
          <p:nvPr/>
        </p:nvSpPr>
        <p:spPr>
          <a:xfrm>
            <a:off x="4590288" y="4800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automated tests</a:t>
            </a:r>
            <a:endParaRPr lang="en-US" sz="1600" dirty="0"/>
          </a:p>
        </p:txBody>
      </p:sp>
      <p:sp>
        <p:nvSpPr>
          <p:cNvPr id="22" name="text-44"/>
          <p:cNvSpPr txBox="1"/>
          <p:nvPr/>
        </p:nvSpPr>
        <p:spPr>
          <a:xfrm>
            <a:off x="4590288" y="51389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incl. 39 security regression tests</a:t>
            </a:r>
            <a:endParaRPr lang="en-US" sz="1200" dirty="0"/>
          </a:p>
        </p:txBody>
      </p:sp>
      <p:sp>
        <p:nvSpPr>
          <p:cNvPr id="23" name="card-45"/>
          <p:cNvSpPr/>
          <p:nvPr/>
        </p:nvSpPr>
        <p:spPr>
          <a:xfrm>
            <a:off x="8083296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4" name="text-46"/>
          <p:cNvSpPr txBox="1"/>
          <p:nvPr/>
        </p:nvSpPr>
        <p:spPr>
          <a:xfrm>
            <a:off x="8357616" y="3931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25" name="text-47"/>
          <p:cNvSpPr txBox="1"/>
          <p:nvPr/>
        </p:nvSpPr>
        <p:spPr>
          <a:xfrm>
            <a:off x="8357616" y="4800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cloud dependencies</a:t>
            </a:r>
            <a:endParaRPr lang="en-US" sz="1600" dirty="0"/>
          </a:p>
        </p:txBody>
      </p:sp>
      <p:sp>
        <p:nvSpPr>
          <p:cNvPr id="26" name="text-48"/>
          <p:cNvSpPr txBox="1"/>
          <p:nvPr/>
        </p:nvSpPr>
        <p:spPr>
          <a:xfrm>
            <a:off x="8357616" y="513892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runs offline on a 64 GB, CPU-only Linux server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Working process: from raw logs to a verified story</a:t>
            </a:r>
            <a:endParaRPr lang="en-US" sz="3200" dirty="0"/>
          </a:p>
        </p:txBody>
      </p:sp>
      <p:sp>
        <p:nvSpPr>
          <p:cNvPr id="3" name="icon-bg-49"/>
          <p:cNvSpPr/>
          <p:nvPr/>
        </p:nvSpPr>
        <p:spPr>
          <a:xfrm>
            <a:off x="929618" y="1828800"/>
            <a:ext cx="822960" cy="82296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4" name="icon-5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9" y="2026310"/>
            <a:ext cx="427939" cy="427939"/>
          </a:xfrm>
          <a:prstGeom prst="rect">
            <a:avLst/>
          </a:prstGeom>
        </p:spPr>
      </p:pic>
      <p:sp>
        <p:nvSpPr>
          <p:cNvPr id="5" name="text-51"/>
          <p:cNvSpPr txBox="1"/>
          <p:nvPr/>
        </p:nvSpPr>
        <p:spPr>
          <a:xfrm>
            <a:off x="792458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arrow-52"/>
          <p:cNvSpPr/>
          <p:nvPr/>
        </p:nvSpPr>
        <p:spPr>
          <a:xfrm>
            <a:off x="1844018" y="2240280"/>
            <a:ext cx="579076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7" name="text-53"/>
          <p:cNvSpPr txBox="1"/>
          <p:nvPr/>
        </p:nvSpPr>
        <p:spPr>
          <a:xfrm>
            <a:off x="594360" y="283464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Ingest</a:t>
            </a:r>
            <a:endParaRPr lang="en-US" sz="1700" dirty="0"/>
          </a:p>
        </p:txBody>
      </p:sp>
      <p:sp>
        <p:nvSpPr>
          <p:cNvPr id="8" name="text-54"/>
          <p:cNvSpPr txBox="1"/>
          <p:nvPr/>
        </p:nvSpPr>
        <p:spPr>
          <a:xfrm>
            <a:off x="640080" y="3246120"/>
            <a:ext cx="1402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Upload, paste, SIEM forward (HTTPS / syslog), host audit</a:t>
            </a:r>
            <a:endParaRPr lang="en-US" sz="1200" dirty="0"/>
          </a:p>
        </p:txBody>
      </p:sp>
      <p:sp>
        <p:nvSpPr>
          <p:cNvPr id="9" name="icon-bg-55"/>
          <p:cNvSpPr/>
          <p:nvPr/>
        </p:nvSpPr>
        <p:spPr>
          <a:xfrm>
            <a:off x="2514535" y="1828800"/>
            <a:ext cx="822960" cy="82296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0" name="icon-5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45" y="2026310"/>
            <a:ext cx="427939" cy="427939"/>
          </a:xfrm>
          <a:prstGeom prst="rect">
            <a:avLst/>
          </a:prstGeom>
        </p:spPr>
      </p:pic>
      <p:sp>
        <p:nvSpPr>
          <p:cNvPr id="11" name="text-57"/>
          <p:cNvSpPr txBox="1"/>
          <p:nvPr/>
        </p:nvSpPr>
        <p:spPr>
          <a:xfrm>
            <a:off x="2377375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arrow-58"/>
          <p:cNvSpPr/>
          <p:nvPr/>
        </p:nvSpPr>
        <p:spPr>
          <a:xfrm>
            <a:off x="3428935" y="2240280"/>
            <a:ext cx="579076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13" name="text-59"/>
          <p:cNvSpPr txBox="1"/>
          <p:nvPr/>
        </p:nvSpPr>
        <p:spPr>
          <a:xfrm>
            <a:off x="2179276" y="283464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Parse</a:t>
            </a:r>
            <a:endParaRPr lang="en-US" sz="1700" dirty="0"/>
          </a:p>
        </p:txBody>
      </p:sp>
      <p:sp>
        <p:nvSpPr>
          <p:cNvPr id="14" name="text-60"/>
          <p:cNvSpPr txBox="1"/>
          <p:nvPr/>
        </p:nvSpPr>
        <p:spPr>
          <a:xfrm>
            <a:off x="2224996" y="3246120"/>
            <a:ext cx="1402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Auto-detect format, map fields, normalise time zones</a:t>
            </a:r>
            <a:endParaRPr lang="en-US" sz="1200" dirty="0"/>
          </a:p>
        </p:txBody>
      </p:sp>
      <p:sp>
        <p:nvSpPr>
          <p:cNvPr id="15" name="icon-bg-61"/>
          <p:cNvSpPr/>
          <p:nvPr/>
        </p:nvSpPr>
        <p:spPr>
          <a:xfrm>
            <a:off x="4099451" y="1828800"/>
            <a:ext cx="822960" cy="82296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6" name="icon-6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962" y="2026310"/>
            <a:ext cx="427939" cy="427939"/>
          </a:xfrm>
          <a:prstGeom prst="rect">
            <a:avLst/>
          </a:prstGeom>
        </p:spPr>
      </p:pic>
      <p:sp>
        <p:nvSpPr>
          <p:cNvPr id="17" name="text-63"/>
          <p:cNvSpPr txBox="1"/>
          <p:nvPr/>
        </p:nvSpPr>
        <p:spPr>
          <a:xfrm>
            <a:off x="3962291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arrow-64"/>
          <p:cNvSpPr/>
          <p:nvPr/>
        </p:nvSpPr>
        <p:spPr>
          <a:xfrm>
            <a:off x="5013851" y="2240280"/>
            <a:ext cx="579076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19" name="text-65"/>
          <p:cNvSpPr txBox="1"/>
          <p:nvPr/>
        </p:nvSpPr>
        <p:spPr>
          <a:xfrm>
            <a:off x="3764193" y="283464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Detect</a:t>
            </a:r>
            <a:endParaRPr lang="en-US" sz="1700" dirty="0"/>
          </a:p>
        </p:txBody>
      </p:sp>
      <p:sp>
        <p:nvSpPr>
          <p:cNvPr id="20" name="text-66"/>
          <p:cNvSpPr txBox="1"/>
          <p:nvPr/>
        </p:nvSpPr>
        <p:spPr>
          <a:xfrm>
            <a:off x="3809913" y="3246120"/>
            <a:ext cx="1402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70+ rules: signatures, thresholds, UEBA, threat intel</a:t>
            </a:r>
            <a:endParaRPr lang="en-US" sz="1200" dirty="0"/>
          </a:p>
        </p:txBody>
      </p:sp>
      <p:sp>
        <p:nvSpPr>
          <p:cNvPr id="21" name="icon-bg-67"/>
          <p:cNvSpPr/>
          <p:nvPr/>
        </p:nvSpPr>
        <p:spPr>
          <a:xfrm>
            <a:off x="5684368" y="1828800"/>
            <a:ext cx="822960" cy="82296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22" name="icon-6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878" y="2026310"/>
            <a:ext cx="427939" cy="427939"/>
          </a:xfrm>
          <a:prstGeom prst="rect">
            <a:avLst/>
          </a:prstGeom>
        </p:spPr>
      </p:pic>
      <p:sp>
        <p:nvSpPr>
          <p:cNvPr id="23" name="text-69"/>
          <p:cNvSpPr txBox="1"/>
          <p:nvPr/>
        </p:nvSpPr>
        <p:spPr>
          <a:xfrm>
            <a:off x="5547208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arrow-70"/>
          <p:cNvSpPr/>
          <p:nvPr/>
        </p:nvSpPr>
        <p:spPr>
          <a:xfrm>
            <a:off x="6598768" y="2240280"/>
            <a:ext cx="579076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25" name="text-71"/>
          <p:cNvSpPr txBox="1"/>
          <p:nvPr/>
        </p:nvSpPr>
        <p:spPr>
          <a:xfrm>
            <a:off x="5349109" y="283464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Correlate</a:t>
            </a:r>
            <a:endParaRPr lang="en-US" sz="1700" dirty="0"/>
          </a:p>
        </p:txBody>
      </p:sp>
      <p:sp>
        <p:nvSpPr>
          <p:cNvPr id="26" name="text-72"/>
          <p:cNvSpPr txBox="1"/>
          <p:nvPr/>
        </p:nvSpPr>
        <p:spPr>
          <a:xfrm>
            <a:off x="5394829" y="3246120"/>
            <a:ext cx="1402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Link findings by actor into incidents and kill chains</a:t>
            </a:r>
            <a:endParaRPr lang="en-US" sz="1200" dirty="0"/>
          </a:p>
        </p:txBody>
      </p:sp>
      <p:sp>
        <p:nvSpPr>
          <p:cNvPr id="27" name="icon-bg-73"/>
          <p:cNvSpPr/>
          <p:nvPr/>
        </p:nvSpPr>
        <p:spPr>
          <a:xfrm>
            <a:off x="7269284" y="1828800"/>
            <a:ext cx="822960" cy="82296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28" name="icon-7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794" y="2026310"/>
            <a:ext cx="427939" cy="427939"/>
          </a:xfrm>
          <a:prstGeom prst="rect">
            <a:avLst/>
          </a:prstGeom>
        </p:spPr>
      </p:pic>
      <p:sp>
        <p:nvSpPr>
          <p:cNvPr id="29" name="text-75"/>
          <p:cNvSpPr txBox="1"/>
          <p:nvPr/>
        </p:nvSpPr>
        <p:spPr>
          <a:xfrm>
            <a:off x="7132124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arrow-76"/>
          <p:cNvSpPr/>
          <p:nvPr/>
        </p:nvSpPr>
        <p:spPr>
          <a:xfrm>
            <a:off x="8183684" y="2240280"/>
            <a:ext cx="579076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31" name="text-77"/>
          <p:cNvSpPr txBox="1"/>
          <p:nvPr/>
        </p:nvSpPr>
        <p:spPr>
          <a:xfrm>
            <a:off x="6934026" y="283464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Score</a:t>
            </a:r>
            <a:endParaRPr lang="en-US" sz="1700" dirty="0"/>
          </a:p>
        </p:txBody>
      </p:sp>
      <p:sp>
        <p:nvSpPr>
          <p:cNvPr id="32" name="text-78"/>
          <p:cNvSpPr txBox="1"/>
          <p:nvPr/>
        </p:nvSpPr>
        <p:spPr>
          <a:xfrm>
            <a:off x="6979746" y="3246120"/>
            <a:ext cx="1402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Severity, confidence, risk, trust context - kept separate</a:t>
            </a:r>
            <a:endParaRPr lang="en-US" sz="1200" dirty="0"/>
          </a:p>
        </p:txBody>
      </p:sp>
      <p:sp>
        <p:nvSpPr>
          <p:cNvPr id="33" name="icon-bg-79"/>
          <p:cNvSpPr/>
          <p:nvPr/>
        </p:nvSpPr>
        <p:spPr>
          <a:xfrm>
            <a:off x="8854201" y="1828800"/>
            <a:ext cx="822960" cy="82296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34" name="icon-8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1711" y="2026310"/>
            <a:ext cx="427939" cy="427939"/>
          </a:xfrm>
          <a:prstGeom prst="rect">
            <a:avLst/>
          </a:prstGeom>
        </p:spPr>
      </p:pic>
      <p:sp>
        <p:nvSpPr>
          <p:cNvPr id="35" name="text-81"/>
          <p:cNvSpPr txBox="1"/>
          <p:nvPr/>
        </p:nvSpPr>
        <p:spPr>
          <a:xfrm>
            <a:off x="8717041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arrow-82"/>
          <p:cNvSpPr/>
          <p:nvPr/>
        </p:nvSpPr>
        <p:spPr>
          <a:xfrm>
            <a:off x="9768601" y="2240280"/>
            <a:ext cx="579076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37" name="text-83"/>
          <p:cNvSpPr txBox="1"/>
          <p:nvPr/>
        </p:nvSpPr>
        <p:spPr>
          <a:xfrm>
            <a:off x="8518942" y="283464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Investigate</a:t>
            </a:r>
            <a:endParaRPr lang="en-US" sz="1700" dirty="0"/>
          </a:p>
        </p:txBody>
      </p:sp>
      <p:sp>
        <p:nvSpPr>
          <p:cNvPr id="38" name="text-84"/>
          <p:cNvSpPr txBox="1"/>
          <p:nvPr/>
        </p:nvSpPr>
        <p:spPr>
          <a:xfrm>
            <a:off x="8564662" y="3246120"/>
            <a:ext cx="1402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Local AI writes the story, citing evidence IDs</a:t>
            </a:r>
            <a:endParaRPr lang="en-US" sz="1200" dirty="0"/>
          </a:p>
        </p:txBody>
      </p:sp>
      <p:sp>
        <p:nvSpPr>
          <p:cNvPr id="39" name="icon-bg-85"/>
          <p:cNvSpPr/>
          <p:nvPr/>
        </p:nvSpPr>
        <p:spPr>
          <a:xfrm>
            <a:off x="10439117" y="1828800"/>
            <a:ext cx="822960" cy="82296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40" name="icon-8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6627" y="2026310"/>
            <a:ext cx="427939" cy="427939"/>
          </a:xfrm>
          <a:prstGeom prst="rect">
            <a:avLst/>
          </a:prstGeom>
        </p:spPr>
      </p:pic>
      <p:sp>
        <p:nvSpPr>
          <p:cNvPr id="41" name="text-87"/>
          <p:cNvSpPr txBox="1"/>
          <p:nvPr/>
        </p:nvSpPr>
        <p:spPr>
          <a:xfrm>
            <a:off x="10301957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7</a:t>
            </a:r>
            <a:endParaRPr lang="en-US" sz="1200" dirty="0"/>
          </a:p>
        </p:txBody>
      </p:sp>
      <p:sp>
        <p:nvSpPr>
          <p:cNvPr id="42" name="text-88"/>
          <p:cNvSpPr txBox="1"/>
          <p:nvPr/>
        </p:nvSpPr>
        <p:spPr>
          <a:xfrm>
            <a:off x="10103859" y="283464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Report</a:t>
            </a:r>
            <a:endParaRPr lang="en-US" sz="1700" dirty="0"/>
          </a:p>
        </p:txBody>
      </p:sp>
      <p:sp>
        <p:nvSpPr>
          <p:cNvPr id="43" name="text-89"/>
          <p:cNvSpPr txBox="1"/>
          <p:nvPr/>
        </p:nvSpPr>
        <p:spPr>
          <a:xfrm>
            <a:off x="10149579" y="3246120"/>
            <a:ext cx="14020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PDF, forensics guide, live alerts, history</a:t>
            </a:r>
            <a:endParaRPr lang="en-US" sz="1200" dirty="0"/>
          </a:p>
        </p:txBody>
      </p:sp>
      <p:sp>
        <p:nvSpPr>
          <p:cNvPr id="44" name="card-90"/>
          <p:cNvSpPr/>
          <p:nvPr/>
        </p:nvSpPr>
        <p:spPr>
          <a:xfrm>
            <a:off x="548640" y="470916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5" name="text-91"/>
          <p:cNvSpPr txBox="1"/>
          <p:nvPr/>
        </p:nvSpPr>
        <p:spPr>
          <a:xfrm>
            <a:off x="868680" y="4919472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Evidence-first: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finding, timeline row and AI statement points to an evidence ID (E-0001…) that maps to the original file and line. Trusted networks are context, never an exemption - nothing is hidden.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detection works</a:t>
            </a:r>
            <a:endParaRPr lang="en-US" sz="3200" dirty="0"/>
          </a:p>
        </p:txBody>
      </p:sp>
      <p:sp>
        <p:nvSpPr>
          <p:cNvPr id="3" name="card-92"/>
          <p:cNvSpPr/>
          <p:nvPr/>
        </p:nvSpPr>
        <p:spPr>
          <a:xfrm>
            <a:off x="548640" y="13258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icon-bg-93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5" name="icon-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42846"/>
            <a:ext cx="309067" cy="309067"/>
          </a:xfrm>
          <a:prstGeom prst="rect">
            <a:avLst/>
          </a:prstGeom>
        </p:spPr>
      </p:pic>
      <p:sp>
        <p:nvSpPr>
          <p:cNvPr id="6" name="text-95"/>
          <p:cNvSpPr txBox="1"/>
          <p:nvPr/>
        </p:nvSpPr>
        <p:spPr>
          <a:xfrm>
            <a:off x="1554480" y="1709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Signatures</a:t>
            </a:r>
            <a:endParaRPr lang="en-US" sz="1800" dirty="0"/>
          </a:p>
        </p:txBody>
      </p:sp>
      <p:sp>
        <p:nvSpPr>
          <p:cNvPr id="7" name="text-96"/>
          <p:cNvSpPr txBox="1"/>
          <p:nvPr/>
        </p:nvSpPr>
        <p:spPr>
          <a:xfrm>
            <a:off x="822960" y="2350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SQLi, XSS, traversal, Log4Shell, web shells, encoded PowerShell, mimikatz, reverse shells</a:t>
            </a:r>
            <a:endParaRPr lang="en-US" sz="1300" dirty="0"/>
          </a:p>
        </p:txBody>
      </p:sp>
      <p:sp>
        <p:nvSpPr>
          <p:cNvPr id="8" name="card-97"/>
          <p:cNvSpPr/>
          <p:nvPr/>
        </p:nvSpPr>
        <p:spPr>
          <a:xfrm>
            <a:off x="4315968" y="13258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icon-bg-98"/>
          <p:cNvSpPr/>
          <p:nvPr/>
        </p:nvSpPr>
        <p:spPr>
          <a:xfrm>
            <a:off x="4590288" y="1600200"/>
            <a:ext cx="594360" cy="59436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10" name="icon-9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742846"/>
            <a:ext cx="309067" cy="309067"/>
          </a:xfrm>
          <a:prstGeom prst="rect">
            <a:avLst/>
          </a:prstGeom>
        </p:spPr>
      </p:pic>
      <p:sp>
        <p:nvSpPr>
          <p:cNvPr id="11" name="text-100"/>
          <p:cNvSpPr txBox="1"/>
          <p:nvPr/>
        </p:nvSpPr>
        <p:spPr>
          <a:xfrm>
            <a:off x="5321808" y="1709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Correlation</a:t>
            </a:r>
            <a:endParaRPr lang="en-US" sz="1800" dirty="0"/>
          </a:p>
        </p:txBody>
      </p:sp>
      <p:sp>
        <p:nvSpPr>
          <p:cNvPr id="12" name="text-101"/>
          <p:cNvSpPr txBox="1"/>
          <p:nvPr/>
        </p:nvSpPr>
        <p:spPr>
          <a:xfrm>
            <a:off x="4590288" y="2350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Brute force → success, password spraying, lateral movement, kill-chain ordering</a:t>
            </a:r>
            <a:endParaRPr lang="en-US" sz="1300" dirty="0"/>
          </a:p>
        </p:txBody>
      </p:sp>
      <p:sp>
        <p:nvSpPr>
          <p:cNvPr id="13" name="card-102"/>
          <p:cNvSpPr/>
          <p:nvPr/>
        </p:nvSpPr>
        <p:spPr>
          <a:xfrm>
            <a:off x="8083296" y="13258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4" name="icon-bg-103"/>
          <p:cNvSpPr/>
          <p:nvPr/>
        </p:nvSpPr>
        <p:spPr>
          <a:xfrm>
            <a:off x="8357616" y="1600200"/>
            <a:ext cx="594360" cy="59436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15" name="icon-10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262" y="1742846"/>
            <a:ext cx="309067" cy="309067"/>
          </a:xfrm>
          <a:prstGeom prst="rect">
            <a:avLst/>
          </a:prstGeom>
        </p:spPr>
      </p:pic>
      <p:sp>
        <p:nvSpPr>
          <p:cNvPr id="16" name="text-105"/>
          <p:cNvSpPr txBox="1"/>
          <p:nvPr/>
        </p:nvSpPr>
        <p:spPr>
          <a:xfrm>
            <a:off x="9089136" y="1709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UEBA</a:t>
            </a:r>
            <a:endParaRPr lang="en-US" sz="1800" dirty="0"/>
          </a:p>
        </p:txBody>
      </p:sp>
      <p:sp>
        <p:nvSpPr>
          <p:cNvPr id="17" name="text-106"/>
          <p:cNvSpPr txBox="1"/>
          <p:nvPr/>
        </p:nvSpPr>
        <p:spPr>
          <a:xfrm>
            <a:off x="8357616" y="2350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Per-account baselines: hours, sources, hosts, privileges, peers - explainable scores</a:t>
            </a:r>
            <a:endParaRPr lang="en-US" sz="1300" dirty="0"/>
          </a:p>
        </p:txBody>
      </p:sp>
      <p:sp>
        <p:nvSpPr>
          <p:cNvPr id="18" name="card-107"/>
          <p:cNvSpPr/>
          <p:nvPr/>
        </p:nvSpPr>
        <p:spPr>
          <a:xfrm>
            <a:off x="548640" y="3703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9" name="icon-bg-108"/>
          <p:cNvSpPr/>
          <p:nvPr/>
        </p:nvSpPr>
        <p:spPr>
          <a:xfrm>
            <a:off x="822960" y="3977640"/>
            <a:ext cx="594360" cy="59436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20" name="icon-10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120286"/>
            <a:ext cx="309067" cy="309067"/>
          </a:xfrm>
          <a:prstGeom prst="rect">
            <a:avLst/>
          </a:prstGeom>
        </p:spPr>
      </p:pic>
      <p:sp>
        <p:nvSpPr>
          <p:cNvPr id="21" name="text-110"/>
          <p:cNvSpPr txBox="1"/>
          <p:nvPr/>
        </p:nvSpPr>
        <p:spPr>
          <a:xfrm>
            <a:off x="1554480" y="4087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Network &amp; statistics</a:t>
            </a:r>
            <a:endParaRPr lang="en-US" sz="1800" dirty="0"/>
          </a:p>
        </p:txBody>
      </p:sp>
      <p:sp>
        <p:nvSpPr>
          <p:cNvPr id="22" name="text-111"/>
          <p:cNvSpPr txBox="1"/>
          <p:nvPr/>
        </p:nvSpPr>
        <p:spPr>
          <a:xfrm>
            <a:off x="822960" y="472744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Port scans, beaconing, exfiltration volume, DNS tunnelling, DGA, gaps</a:t>
            </a:r>
            <a:endParaRPr lang="en-US" sz="1300" dirty="0"/>
          </a:p>
        </p:txBody>
      </p:sp>
      <p:sp>
        <p:nvSpPr>
          <p:cNvPr id="23" name="card-112"/>
          <p:cNvSpPr/>
          <p:nvPr/>
        </p:nvSpPr>
        <p:spPr>
          <a:xfrm>
            <a:off x="4315968" y="3703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4" name="icon-bg-113"/>
          <p:cNvSpPr/>
          <p:nvPr/>
        </p:nvSpPr>
        <p:spPr>
          <a:xfrm>
            <a:off x="4590288" y="3977640"/>
            <a:ext cx="594360" cy="59436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25" name="icon-1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934" y="4120286"/>
            <a:ext cx="309067" cy="309067"/>
          </a:xfrm>
          <a:prstGeom prst="rect">
            <a:avLst/>
          </a:prstGeom>
        </p:spPr>
      </p:pic>
      <p:sp>
        <p:nvSpPr>
          <p:cNvPr id="26" name="text-115"/>
          <p:cNvSpPr txBox="1"/>
          <p:nvPr/>
        </p:nvSpPr>
        <p:spPr>
          <a:xfrm>
            <a:off x="5321808" y="4087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Threat intelligence</a:t>
            </a:r>
            <a:endParaRPr lang="en-US" sz="1800" dirty="0"/>
          </a:p>
        </p:txBody>
      </p:sp>
      <p:sp>
        <p:nvSpPr>
          <p:cNvPr id="27" name="text-116"/>
          <p:cNvSpPr txBox="1"/>
          <p:nvPr/>
        </p:nvSpPr>
        <p:spPr>
          <a:xfrm>
            <a:off x="4590288" y="472744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Offline IoC feeds, learned indicators and 8 optional online sources</a:t>
            </a:r>
            <a:endParaRPr lang="en-US" sz="1300" dirty="0"/>
          </a:p>
        </p:txBody>
      </p:sp>
      <p:sp>
        <p:nvSpPr>
          <p:cNvPr id="28" name="card-117"/>
          <p:cNvSpPr/>
          <p:nvPr/>
        </p:nvSpPr>
        <p:spPr>
          <a:xfrm>
            <a:off x="8083296" y="3703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9" name="icon-bg-118"/>
          <p:cNvSpPr/>
          <p:nvPr/>
        </p:nvSpPr>
        <p:spPr>
          <a:xfrm>
            <a:off x="8357616" y="3977640"/>
            <a:ext cx="594360" cy="59436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30" name="icon-11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0262" y="4120286"/>
            <a:ext cx="309067" cy="309067"/>
          </a:xfrm>
          <a:prstGeom prst="rect">
            <a:avLst/>
          </a:prstGeom>
        </p:spPr>
      </p:pic>
      <p:sp>
        <p:nvSpPr>
          <p:cNvPr id="31" name="text-120"/>
          <p:cNvSpPr txBox="1"/>
          <p:nvPr/>
        </p:nvSpPr>
        <p:spPr>
          <a:xfrm>
            <a:off x="9089136" y="4087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Forensic integrity</a:t>
            </a:r>
            <a:endParaRPr lang="en-US" sz="1800" dirty="0"/>
          </a:p>
        </p:txBody>
      </p:sp>
      <p:sp>
        <p:nvSpPr>
          <p:cNvPr id="32" name="text-121"/>
          <p:cNvSpPr txBox="1"/>
          <p:nvPr/>
        </p:nvSpPr>
        <p:spPr>
          <a:xfrm>
            <a:off x="8357616" y="472744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 clearing, audit-policy changes, time anomalies, telemetry gaps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Behind the agent: architecture</a:t>
            </a:r>
            <a:endParaRPr lang="en-US" sz="3200" dirty="0"/>
          </a:p>
        </p:txBody>
      </p:sp>
      <p:sp>
        <p:nvSpPr>
          <p:cNvPr id="3" name="lane-head-122"/>
          <p:cNvSpPr/>
          <p:nvPr/>
        </p:nvSpPr>
        <p:spPr>
          <a:xfrm>
            <a:off x="548640" y="132588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5A6470"/>
          </a:solidFill>
          <a:ln w="12700">
            <a:solidFill>
              <a:srgbClr val="5A6470"/>
            </a:solidFill>
            <a:prstDash val="solid"/>
          </a:ln>
        </p:spPr>
      </p:sp>
      <p:sp>
        <p:nvSpPr>
          <p:cNvPr id="4" name="text-123"/>
          <p:cNvSpPr txBox="1"/>
          <p:nvPr/>
        </p:nvSpPr>
        <p:spPr>
          <a:xfrm>
            <a:off x="54864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Inputs</a:t>
            </a:r>
            <a:endParaRPr lang="en-US" sz="1600" dirty="0"/>
          </a:p>
        </p:txBody>
      </p:sp>
      <p:sp>
        <p:nvSpPr>
          <p:cNvPr id="5" name="card-124"/>
          <p:cNvSpPr/>
          <p:nvPr/>
        </p:nvSpPr>
        <p:spPr>
          <a:xfrm>
            <a:off x="548640" y="205740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-125"/>
          <p:cNvSpPr txBox="1"/>
          <p:nvPr/>
        </p:nvSpPr>
        <p:spPr>
          <a:xfrm>
            <a:off x="685800" y="20574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Upload / paste</a:t>
            </a:r>
            <a:endParaRPr lang="en-US" sz="1300" dirty="0"/>
          </a:p>
        </p:txBody>
      </p:sp>
      <p:sp>
        <p:nvSpPr>
          <p:cNvPr id="7" name="card-126"/>
          <p:cNvSpPr/>
          <p:nvPr/>
        </p:nvSpPr>
        <p:spPr>
          <a:xfrm>
            <a:off x="548640" y="283464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-127"/>
          <p:cNvSpPr txBox="1"/>
          <p:nvPr/>
        </p:nvSpPr>
        <p:spPr>
          <a:xfrm>
            <a:off x="685800" y="283464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SIEM → HTTPS ingest</a:t>
            </a:r>
            <a:endParaRPr lang="en-US" sz="1300" dirty="0"/>
          </a:p>
        </p:txBody>
      </p:sp>
      <p:sp>
        <p:nvSpPr>
          <p:cNvPr id="9" name="card-128"/>
          <p:cNvSpPr/>
          <p:nvPr/>
        </p:nvSpPr>
        <p:spPr>
          <a:xfrm>
            <a:off x="548640" y="361188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-129"/>
          <p:cNvSpPr txBox="1"/>
          <p:nvPr/>
        </p:nvSpPr>
        <p:spPr>
          <a:xfrm>
            <a:off x="685800" y="361188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Syslog UDP / TCP</a:t>
            </a:r>
            <a:endParaRPr lang="en-US" sz="1300" dirty="0"/>
          </a:p>
        </p:txBody>
      </p:sp>
      <p:sp>
        <p:nvSpPr>
          <p:cNvPr id="11" name="card-130"/>
          <p:cNvSpPr/>
          <p:nvPr/>
        </p:nvSpPr>
        <p:spPr>
          <a:xfrm>
            <a:off x="548640" y="438912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2" name="text-131"/>
          <p:cNvSpPr txBox="1"/>
          <p:nvPr/>
        </p:nvSpPr>
        <p:spPr>
          <a:xfrm>
            <a:off x="685800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Linux host audit</a:t>
            </a:r>
            <a:endParaRPr lang="en-US" sz="1300" dirty="0"/>
          </a:p>
        </p:txBody>
      </p:sp>
      <p:sp>
        <p:nvSpPr>
          <p:cNvPr id="13" name="arrow-132"/>
          <p:cNvSpPr/>
          <p:nvPr/>
        </p:nvSpPr>
        <p:spPr>
          <a:xfrm>
            <a:off x="3136392" y="3291840"/>
            <a:ext cx="199034" cy="0"/>
          </a:xfrm>
          <a:prstGeom prst="line">
            <a:avLst/>
          </a:prstGeom>
          <a:noFill/>
          <a:ln w="3175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14" name="lane-head-133"/>
          <p:cNvSpPr/>
          <p:nvPr/>
        </p:nvSpPr>
        <p:spPr>
          <a:xfrm>
            <a:off x="3408578" y="132588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sp>
        <p:nvSpPr>
          <p:cNvPr id="15" name="text-134"/>
          <p:cNvSpPr txBox="1"/>
          <p:nvPr/>
        </p:nvSpPr>
        <p:spPr>
          <a:xfrm>
            <a:off x="3408578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Analysis engine</a:t>
            </a:r>
            <a:endParaRPr lang="en-US" sz="1600" dirty="0"/>
          </a:p>
        </p:txBody>
      </p:sp>
      <p:sp>
        <p:nvSpPr>
          <p:cNvPr id="16" name="card-135"/>
          <p:cNvSpPr/>
          <p:nvPr/>
        </p:nvSpPr>
        <p:spPr>
          <a:xfrm>
            <a:off x="3408578" y="205740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7" name="text-136"/>
          <p:cNvSpPr txBox="1"/>
          <p:nvPr/>
        </p:nvSpPr>
        <p:spPr>
          <a:xfrm>
            <a:off x="3545738" y="20574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parsers.py</a:t>
            </a:r>
            <a:endParaRPr lang="en-US" sz="1300" dirty="0"/>
          </a:p>
        </p:txBody>
      </p:sp>
      <p:sp>
        <p:nvSpPr>
          <p:cNvPr id="18" name="card-137"/>
          <p:cNvSpPr/>
          <p:nvPr/>
        </p:nvSpPr>
        <p:spPr>
          <a:xfrm>
            <a:off x="3408578" y="283464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9" name="text-138"/>
          <p:cNvSpPr txBox="1"/>
          <p:nvPr/>
        </p:nvSpPr>
        <p:spPr>
          <a:xfrm>
            <a:off x="3545738" y="283464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detector · engine · rules</a:t>
            </a:r>
            <a:endParaRPr lang="en-US" sz="1300" dirty="0"/>
          </a:p>
        </p:txBody>
      </p:sp>
      <p:sp>
        <p:nvSpPr>
          <p:cNvPr id="20" name="card-139"/>
          <p:cNvSpPr/>
          <p:nvPr/>
        </p:nvSpPr>
        <p:spPr>
          <a:xfrm>
            <a:off x="3408578" y="361188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1" name="text-140"/>
          <p:cNvSpPr txBox="1"/>
          <p:nvPr/>
        </p:nvSpPr>
        <p:spPr>
          <a:xfrm>
            <a:off x="3545738" y="361188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pipeline.py (correlate, score)</a:t>
            </a:r>
            <a:endParaRPr lang="en-US" sz="1300" dirty="0"/>
          </a:p>
        </p:txBody>
      </p:sp>
      <p:sp>
        <p:nvSpPr>
          <p:cNvPr id="22" name="card-141"/>
          <p:cNvSpPr/>
          <p:nvPr/>
        </p:nvSpPr>
        <p:spPr>
          <a:xfrm>
            <a:off x="3408578" y="438912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3" name="text-142"/>
          <p:cNvSpPr txBox="1"/>
          <p:nvPr/>
        </p:nvSpPr>
        <p:spPr>
          <a:xfrm>
            <a:off x="3545738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flow.py · forensics.py</a:t>
            </a:r>
            <a:endParaRPr lang="en-US" sz="1300" dirty="0"/>
          </a:p>
        </p:txBody>
      </p:sp>
      <p:sp>
        <p:nvSpPr>
          <p:cNvPr id="24" name="arrow-143"/>
          <p:cNvSpPr/>
          <p:nvPr/>
        </p:nvSpPr>
        <p:spPr>
          <a:xfrm>
            <a:off x="5996330" y="3291840"/>
            <a:ext cx="199034" cy="0"/>
          </a:xfrm>
          <a:prstGeom prst="line">
            <a:avLst/>
          </a:prstGeom>
          <a:noFill/>
          <a:ln w="3175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25" name="lane-head-144"/>
          <p:cNvSpPr/>
          <p:nvPr/>
        </p:nvSpPr>
        <p:spPr>
          <a:xfrm>
            <a:off x="6268517" y="132588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26" name="text-145"/>
          <p:cNvSpPr txBox="1"/>
          <p:nvPr/>
        </p:nvSpPr>
        <p:spPr>
          <a:xfrm>
            <a:off x="6268517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Context &amp; intelligence</a:t>
            </a:r>
            <a:endParaRPr lang="en-US" sz="1600" dirty="0"/>
          </a:p>
        </p:txBody>
      </p:sp>
      <p:sp>
        <p:nvSpPr>
          <p:cNvPr id="27" name="card-146"/>
          <p:cNvSpPr/>
          <p:nvPr/>
        </p:nvSpPr>
        <p:spPr>
          <a:xfrm>
            <a:off x="6268517" y="205740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8" name="text-147"/>
          <p:cNvSpPr txBox="1"/>
          <p:nvPr/>
        </p:nvSpPr>
        <p:spPr>
          <a:xfrm>
            <a:off x="6405677" y="20574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trust.py (your assets)</a:t>
            </a:r>
            <a:endParaRPr lang="en-US" sz="1300" dirty="0"/>
          </a:p>
        </p:txBody>
      </p:sp>
      <p:sp>
        <p:nvSpPr>
          <p:cNvPr id="29" name="card-148"/>
          <p:cNvSpPr/>
          <p:nvPr/>
        </p:nvSpPr>
        <p:spPr>
          <a:xfrm>
            <a:off x="6268517" y="283464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0" name="text-149"/>
          <p:cNvSpPr txBox="1"/>
          <p:nvPr/>
        </p:nvSpPr>
        <p:spPr>
          <a:xfrm>
            <a:off x="6405677" y="283464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memory.py (learning)</a:t>
            </a:r>
            <a:endParaRPr lang="en-US" sz="1300" dirty="0"/>
          </a:p>
        </p:txBody>
      </p:sp>
      <p:sp>
        <p:nvSpPr>
          <p:cNvPr id="31" name="card-150"/>
          <p:cNvSpPr/>
          <p:nvPr/>
        </p:nvSpPr>
        <p:spPr>
          <a:xfrm>
            <a:off x="6268517" y="361188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2" name="text-151"/>
          <p:cNvSpPr txBox="1"/>
          <p:nvPr/>
        </p:nvSpPr>
        <p:spPr>
          <a:xfrm>
            <a:off x="6405677" y="361188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reputation.py (8 sources)</a:t>
            </a:r>
            <a:endParaRPr lang="en-US" sz="1300" dirty="0"/>
          </a:p>
        </p:txBody>
      </p:sp>
      <p:sp>
        <p:nvSpPr>
          <p:cNvPr id="33" name="card-152"/>
          <p:cNvSpPr/>
          <p:nvPr/>
        </p:nvSpPr>
        <p:spPr>
          <a:xfrm>
            <a:off x="6268517" y="438912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4" name="text-153"/>
          <p:cNvSpPr txBox="1"/>
          <p:nvPr/>
        </p:nvSpPr>
        <p:spPr>
          <a:xfrm>
            <a:off x="6405677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investigator.py + local LLM</a:t>
            </a:r>
            <a:endParaRPr lang="en-US" sz="1300" dirty="0"/>
          </a:p>
        </p:txBody>
      </p:sp>
      <p:sp>
        <p:nvSpPr>
          <p:cNvPr id="35" name="arrow-154"/>
          <p:cNvSpPr/>
          <p:nvPr/>
        </p:nvSpPr>
        <p:spPr>
          <a:xfrm>
            <a:off x="8856269" y="3291840"/>
            <a:ext cx="199034" cy="0"/>
          </a:xfrm>
          <a:prstGeom prst="line">
            <a:avLst/>
          </a:prstGeom>
          <a:noFill/>
          <a:ln w="3175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36" name="lane-head-155"/>
          <p:cNvSpPr/>
          <p:nvPr/>
        </p:nvSpPr>
        <p:spPr>
          <a:xfrm>
            <a:off x="9128455" y="132588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F59E1E"/>
          </a:solidFill>
          <a:ln w="12700">
            <a:solidFill>
              <a:srgbClr val="F59E1E"/>
            </a:solidFill>
            <a:prstDash val="solid"/>
          </a:ln>
        </p:spPr>
      </p:sp>
      <p:sp>
        <p:nvSpPr>
          <p:cNvPr id="37" name="text-156"/>
          <p:cNvSpPr txBox="1"/>
          <p:nvPr/>
        </p:nvSpPr>
        <p:spPr>
          <a:xfrm>
            <a:off x="9128455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Outputs</a:t>
            </a:r>
            <a:endParaRPr lang="en-US" sz="1600" dirty="0"/>
          </a:p>
        </p:txBody>
      </p:sp>
      <p:sp>
        <p:nvSpPr>
          <p:cNvPr id="38" name="card-157"/>
          <p:cNvSpPr/>
          <p:nvPr/>
        </p:nvSpPr>
        <p:spPr>
          <a:xfrm>
            <a:off x="9128455" y="205740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9" name="text-158"/>
          <p:cNvSpPr txBox="1"/>
          <p:nvPr/>
        </p:nvSpPr>
        <p:spPr>
          <a:xfrm>
            <a:off x="9265615" y="205740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Web UI + Live window</a:t>
            </a:r>
            <a:endParaRPr lang="en-US" sz="1300" dirty="0"/>
          </a:p>
        </p:txBody>
      </p:sp>
      <p:sp>
        <p:nvSpPr>
          <p:cNvPr id="40" name="card-159"/>
          <p:cNvSpPr/>
          <p:nvPr/>
        </p:nvSpPr>
        <p:spPr>
          <a:xfrm>
            <a:off x="9128455" y="283464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1" name="text-160"/>
          <p:cNvSpPr txBox="1"/>
          <p:nvPr/>
        </p:nvSpPr>
        <p:spPr>
          <a:xfrm>
            <a:off x="9265615" y="283464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A4 PDF report</a:t>
            </a:r>
            <a:endParaRPr lang="en-US" sz="1300" dirty="0"/>
          </a:p>
        </p:txBody>
      </p:sp>
      <p:sp>
        <p:nvSpPr>
          <p:cNvPr id="42" name="card-161"/>
          <p:cNvSpPr/>
          <p:nvPr/>
        </p:nvSpPr>
        <p:spPr>
          <a:xfrm>
            <a:off x="9128455" y="361188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3" name="text-162"/>
          <p:cNvSpPr txBox="1"/>
          <p:nvPr/>
        </p:nvSpPr>
        <p:spPr>
          <a:xfrm>
            <a:off x="9265615" y="361188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Forensic guide / JSON</a:t>
            </a:r>
            <a:endParaRPr lang="en-US" sz="1300" dirty="0"/>
          </a:p>
        </p:txBody>
      </p:sp>
      <p:sp>
        <p:nvSpPr>
          <p:cNvPr id="44" name="card-163"/>
          <p:cNvSpPr/>
          <p:nvPr/>
        </p:nvSpPr>
        <p:spPr>
          <a:xfrm>
            <a:off x="9128455" y="4389120"/>
            <a:ext cx="2514600" cy="621792"/>
          </a:xfrm>
          <a:prstGeom prst="roundRect">
            <a:avLst>
              <a:gd name="adj" fmla="val 1764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5" name="text-164"/>
          <p:cNvSpPr txBox="1"/>
          <p:nvPr/>
        </p:nvSpPr>
        <p:spPr>
          <a:xfrm>
            <a:off x="9265615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History (logs + SHA-256)</a:t>
            </a:r>
            <a:endParaRPr lang="en-US" sz="1300" dirty="0"/>
          </a:p>
        </p:txBody>
      </p:sp>
      <p:sp>
        <p:nvSpPr>
          <p:cNvPr id="46" name="text-165"/>
          <p:cNvSpPr txBox="1"/>
          <p:nvPr/>
        </p:nvSpPr>
        <p:spPr>
          <a:xfrm>
            <a:off x="548640" y="53492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Data stays on the server: config/ and data/ are owner-only (0700/0600); the AI model is reached on 127.0.0.1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Inside the code: what each module does</a:t>
            </a:r>
            <a:endParaRPr lang="en-US" sz="3200" dirty="0"/>
          </a:p>
        </p:txBody>
      </p:sp>
      <p:graphicFrame>
        <p:nvGraphicFramePr>
          <p:cNvPr id="8" name="table-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39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E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Responsibility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E6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A2B"/>
                          </a:solidFill>
                        </a:rPr>
                        <a:t>Web server, API, login (password / token), HTTPS, CLI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parsers.py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A2B"/>
                          </a:solidFill>
                        </a:rPr>
                        <a:t>Format detection, streaming readers, field mapping, time zones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detector.py · engine.py · rules.py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A2B"/>
                          </a:solidFill>
                        </a:rPr>
                        <a:t>Signature rules, structured rules, UEBA, statistics, rule catalogue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pipeline.py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A2B"/>
                          </a:solidFill>
                        </a:rPr>
                        <a:t>Evidence register, correlation into incidents, risk scoring, SOAR checklist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flow.py · forensics.py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A2B"/>
                          </a:solidFill>
                        </a:rPr>
                        <a:t>Action taken per device, attack flow &amp; diagram, forensic playbooks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investigator.py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A2B"/>
                          </a:solidFill>
                        </a:rPr>
                        <a:t>AI case file, deterministic investigation, answer validation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trust.py · memory.py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A2B"/>
                          </a:solidFill>
                        </a:rPr>
                        <a:t>Trusted networks &amp; assets, learning memory (verdicts, IoCs, sightings)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reputation.py · live.py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A2B"/>
                          </a:solidFill>
                        </a:rPr>
                        <a:t>Threat-intel sources, live SIEM receiver and rolling analysis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history.py · report_pdf.py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A2B"/>
                          </a:solidFill>
                        </a:rPr>
                        <a:t>Stored analyses with original logs, 15-section A4 PDF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Front of the agent: the web interface</a:t>
            </a:r>
            <a:endParaRPr lang="en-US" sz="3200" dirty="0"/>
          </a:p>
        </p:txBody>
      </p:sp>
      <p:sp>
        <p:nvSpPr>
          <p:cNvPr id="3" name="frame-167"/>
          <p:cNvSpPr/>
          <p:nvPr/>
        </p:nvSpPr>
        <p:spPr>
          <a:xfrm>
            <a:off x="548640" y="1316736"/>
            <a:ext cx="6144768" cy="4300728"/>
          </a:xfrm>
          <a:prstGeom prst="roundRect">
            <a:avLst>
              <a:gd name="adj" fmla="val 1701"/>
            </a:avLst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A2B">
                <a:alpha val="18000"/>
              </a:srgbClr>
            </a:outerShdw>
          </a:effectLst>
        </p:spPr>
      </p:sp>
      <p:pic>
        <p:nvPicPr>
          <p:cNvPr id="4" name="screenshot-168" descr="/home/user/CyberSecuirty/ai-agent/docs/screenshot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71600"/>
            <a:ext cx="6035040" cy="4191000"/>
          </a:xfrm>
          <a:prstGeom prst="rect">
            <a:avLst/>
          </a:prstGeom>
        </p:spPr>
      </p:pic>
      <p:sp>
        <p:nvSpPr>
          <p:cNvPr id="5" name="icon-bg-169"/>
          <p:cNvSpPr/>
          <p:nvPr/>
        </p:nvSpPr>
        <p:spPr>
          <a:xfrm>
            <a:off x="6995160" y="1325880"/>
            <a:ext cx="502920" cy="50292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6" name="icon-17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61" y="1446581"/>
            <a:ext cx="261518" cy="261518"/>
          </a:xfrm>
          <a:prstGeom prst="rect">
            <a:avLst/>
          </a:prstGeom>
        </p:spPr>
      </p:pic>
      <p:sp>
        <p:nvSpPr>
          <p:cNvPr id="7" name="text-171"/>
          <p:cNvSpPr txBox="1"/>
          <p:nvPr/>
        </p:nvSpPr>
        <p:spPr>
          <a:xfrm>
            <a:off x="7680960" y="1298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Threat Analysis</a:t>
            </a:r>
            <a:endParaRPr lang="en-US" sz="1500" dirty="0"/>
          </a:p>
        </p:txBody>
      </p:sp>
      <p:sp>
        <p:nvSpPr>
          <p:cNvPr id="8" name="text-172"/>
          <p:cNvSpPr txBox="1"/>
          <p:nvPr/>
        </p:nvSpPr>
        <p:spPr>
          <a:xfrm>
            <a:off x="7680960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risk, findings, incidents, IOCs, reputation</a:t>
            </a:r>
            <a:endParaRPr lang="en-US" sz="1200" dirty="0"/>
          </a:p>
        </p:txBody>
      </p:sp>
      <p:sp>
        <p:nvSpPr>
          <p:cNvPr id="9" name="icon-bg-173"/>
          <p:cNvSpPr/>
          <p:nvPr/>
        </p:nvSpPr>
        <p:spPr>
          <a:xfrm>
            <a:off x="6995160" y="2084832"/>
            <a:ext cx="502920" cy="50292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0" name="icon-17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1" y="2205533"/>
            <a:ext cx="261518" cy="261518"/>
          </a:xfrm>
          <a:prstGeom prst="rect">
            <a:avLst/>
          </a:prstGeom>
        </p:spPr>
      </p:pic>
      <p:sp>
        <p:nvSpPr>
          <p:cNvPr id="11" name="text-175"/>
          <p:cNvSpPr txBox="1"/>
          <p:nvPr/>
        </p:nvSpPr>
        <p:spPr>
          <a:xfrm>
            <a:off x="7680960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Analyst</a:t>
            </a:r>
            <a:endParaRPr lang="en-US" sz="1500" dirty="0"/>
          </a:p>
        </p:txBody>
      </p:sp>
      <p:sp>
        <p:nvSpPr>
          <p:cNvPr id="12" name="text-176"/>
          <p:cNvSpPr txBox="1"/>
          <p:nvPr/>
        </p:nvSpPr>
        <p:spPr>
          <a:xfrm>
            <a:off x="7680960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chat and one-click AI investigation</a:t>
            </a:r>
            <a:endParaRPr lang="en-US" sz="1200" dirty="0"/>
          </a:p>
        </p:txBody>
      </p:sp>
      <p:sp>
        <p:nvSpPr>
          <p:cNvPr id="13" name="icon-bg-177"/>
          <p:cNvSpPr/>
          <p:nvPr/>
        </p:nvSpPr>
        <p:spPr>
          <a:xfrm>
            <a:off x="6995160" y="2843784"/>
            <a:ext cx="502920" cy="50292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4" name="icon-17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861" y="2964485"/>
            <a:ext cx="261518" cy="261518"/>
          </a:xfrm>
          <a:prstGeom prst="rect">
            <a:avLst/>
          </a:prstGeom>
        </p:spPr>
      </p:pic>
      <p:sp>
        <p:nvSpPr>
          <p:cNvPr id="15" name="text-179"/>
          <p:cNvSpPr txBox="1"/>
          <p:nvPr/>
        </p:nvSpPr>
        <p:spPr>
          <a:xfrm>
            <a:off x="7680960" y="28163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Forensics</a:t>
            </a:r>
            <a:endParaRPr lang="en-US" sz="1500" dirty="0"/>
          </a:p>
        </p:txBody>
      </p:sp>
      <p:sp>
        <p:nvSpPr>
          <p:cNvPr id="16" name="text-180"/>
          <p:cNvSpPr txBox="1"/>
          <p:nvPr/>
        </p:nvSpPr>
        <p:spPr>
          <a:xfrm>
            <a:off x="7680960" y="3099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tabs per attack type + attack diagram</a:t>
            </a:r>
            <a:endParaRPr lang="en-US" sz="1200" dirty="0"/>
          </a:p>
        </p:txBody>
      </p:sp>
      <p:sp>
        <p:nvSpPr>
          <p:cNvPr id="17" name="icon-bg-181"/>
          <p:cNvSpPr/>
          <p:nvPr/>
        </p:nvSpPr>
        <p:spPr>
          <a:xfrm>
            <a:off x="6995160" y="3602736"/>
            <a:ext cx="502920" cy="50292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8" name="icon-18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861" y="3723437"/>
            <a:ext cx="261518" cy="261518"/>
          </a:xfrm>
          <a:prstGeom prst="rect">
            <a:avLst/>
          </a:prstGeom>
        </p:spPr>
      </p:pic>
      <p:sp>
        <p:nvSpPr>
          <p:cNvPr id="19" name="text-183"/>
          <p:cNvSpPr txBox="1"/>
          <p:nvPr/>
        </p:nvSpPr>
        <p:spPr>
          <a:xfrm>
            <a:off x="7680960" y="3575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History &amp; Learning</a:t>
            </a:r>
            <a:endParaRPr lang="en-US" sz="1500" dirty="0"/>
          </a:p>
        </p:txBody>
      </p:sp>
      <p:sp>
        <p:nvSpPr>
          <p:cNvPr id="20" name="text-184"/>
          <p:cNvSpPr txBox="1"/>
          <p:nvPr/>
        </p:nvSpPr>
        <p:spPr>
          <a:xfrm>
            <a:off x="7680960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stored logs, re-analyse, what was learned</a:t>
            </a:r>
            <a:endParaRPr lang="en-US" sz="1200" dirty="0"/>
          </a:p>
        </p:txBody>
      </p:sp>
      <p:sp>
        <p:nvSpPr>
          <p:cNvPr id="21" name="icon-bg-185"/>
          <p:cNvSpPr/>
          <p:nvPr/>
        </p:nvSpPr>
        <p:spPr>
          <a:xfrm>
            <a:off x="6995160" y="4361688"/>
            <a:ext cx="502920" cy="50292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22" name="icon-18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5861" y="4482389"/>
            <a:ext cx="261518" cy="261518"/>
          </a:xfrm>
          <a:prstGeom prst="rect">
            <a:avLst/>
          </a:prstGeom>
        </p:spPr>
      </p:pic>
      <p:sp>
        <p:nvSpPr>
          <p:cNvPr id="23" name="text-187"/>
          <p:cNvSpPr txBox="1"/>
          <p:nvPr/>
        </p:nvSpPr>
        <p:spPr>
          <a:xfrm>
            <a:off x="7680960" y="4334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Live analysis</a:t>
            </a:r>
            <a:endParaRPr lang="en-US" sz="1500" dirty="0"/>
          </a:p>
        </p:txBody>
      </p:sp>
      <p:sp>
        <p:nvSpPr>
          <p:cNvPr id="24" name="text-188"/>
          <p:cNvSpPr txBox="1"/>
          <p:nvPr/>
        </p:nvSpPr>
        <p:spPr>
          <a:xfrm>
            <a:off x="7680960" y="4617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separate window for SIEM-forwarded logs</a:t>
            </a:r>
            <a:endParaRPr lang="en-US" sz="1200" dirty="0"/>
          </a:p>
        </p:txBody>
      </p:sp>
      <p:sp>
        <p:nvSpPr>
          <p:cNvPr id="25" name="icon-bg-189"/>
          <p:cNvSpPr/>
          <p:nvPr/>
        </p:nvSpPr>
        <p:spPr>
          <a:xfrm>
            <a:off x="6995160" y="5120640"/>
            <a:ext cx="502920" cy="50292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26" name="icon-19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861" y="5241341"/>
            <a:ext cx="261518" cy="261518"/>
          </a:xfrm>
          <a:prstGeom prst="rect">
            <a:avLst/>
          </a:prstGeom>
        </p:spPr>
      </p:pic>
      <p:sp>
        <p:nvSpPr>
          <p:cNvPr id="27" name="text-191"/>
          <p:cNvSpPr txBox="1"/>
          <p:nvPr/>
        </p:nvSpPr>
        <p:spPr>
          <a:xfrm>
            <a:off x="7680960" y="5093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Trust · Branding · Settings</a:t>
            </a:r>
            <a:endParaRPr lang="en-US" sz="1500" dirty="0"/>
          </a:p>
        </p:txBody>
      </p:sp>
      <p:sp>
        <p:nvSpPr>
          <p:cNvPr id="28" name="text-192"/>
          <p:cNvSpPr txBox="1"/>
          <p:nvPr/>
        </p:nvSpPr>
        <p:spPr>
          <a:xfrm>
            <a:off x="7680960" y="5376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your assets, logo, AI and intel keys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See the attack: action taken, diagram, forensics</a:t>
            </a:r>
            <a:endParaRPr lang="en-US" sz="3200" dirty="0"/>
          </a:p>
        </p:txBody>
      </p:sp>
      <p:sp>
        <p:nvSpPr>
          <p:cNvPr id="3" name="frame-193"/>
          <p:cNvSpPr/>
          <p:nvPr/>
        </p:nvSpPr>
        <p:spPr>
          <a:xfrm>
            <a:off x="548640" y="1316736"/>
            <a:ext cx="5230368" cy="3638818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A2B">
                <a:alpha val="18000"/>
              </a:srgbClr>
            </a:outerShdw>
          </a:effectLst>
        </p:spPr>
      </p:sp>
      <p:pic>
        <p:nvPicPr>
          <p:cNvPr id="4" name="screenshot-194" descr="/home/user/CyberSecuirty/ai-agent/docs/screenshot-attack-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71600"/>
            <a:ext cx="5120640" cy="3529090"/>
          </a:xfrm>
          <a:prstGeom prst="rect">
            <a:avLst/>
          </a:prstGeom>
        </p:spPr>
      </p:pic>
      <p:sp>
        <p:nvSpPr>
          <p:cNvPr id="5" name="text-195"/>
          <p:cNvSpPr txBox="1"/>
          <p:nvPr/>
        </p:nvSpPr>
        <p:spPr>
          <a:xfrm>
            <a:off x="548640" y="508357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Attack diagram: attacker → VPN → workstation → servers → C2 / exfiltration, coloured by outcome</a:t>
            </a:r>
            <a:endParaRPr lang="en-US" sz="1200" dirty="0"/>
          </a:p>
        </p:txBody>
      </p:sp>
      <p:sp>
        <p:nvSpPr>
          <p:cNvPr id="6" name="frame-196"/>
          <p:cNvSpPr/>
          <p:nvPr/>
        </p:nvSpPr>
        <p:spPr>
          <a:xfrm>
            <a:off x="6300216" y="1316736"/>
            <a:ext cx="5367528" cy="3760978"/>
          </a:xfrm>
          <a:prstGeom prst="roundRect">
            <a:avLst>
              <a:gd name="adj" fmla="val 1945"/>
            </a:avLst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A2B">
                <a:alpha val="18000"/>
              </a:srgbClr>
            </a:outerShdw>
          </a:effectLst>
        </p:spPr>
      </p:sp>
      <p:pic>
        <p:nvPicPr>
          <p:cNvPr id="7" name="screenshot-197" descr="/home/user/CyberSecuirty/ai-agent/docs/screenshot-forensic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257800" cy="3651250"/>
          </a:xfrm>
          <a:prstGeom prst="rect">
            <a:avLst/>
          </a:prstGeom>
        </p:spPr>
      </p:pic>
      <p:sp>
        <p:nvSpPr>
          <p:cNvPr id="8" name="text-198"/>
          <p:cNvSpPr txBox="1"/>
          <p:nvPr/>
        </p:nvSpPr>
        <p:spPr>
          <a:xfrm>
            <a:off x="6300216" y="520573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Forensics tab: type of attack, action taken by devices, recommendations, forensic steps, read-only commands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AI investigation agent</a:t>
            </a:r>
            <a:endParaRPr lang="en-US" sz="3200" dirty="0"/>
          </a:p>
        </p:txBody>
      </p:sp>
      <p:sp>
        <p:nvSpPr>
          <p:cNvPr id="3" name="card-199"/>
          <p:cNvSpPr/>
          <p:nvPr/>
        </p:nvSpPr>
        <p:spPr>
          <a:xfrm>
            <a:off x="548640" y="137160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icon-bg-200"/>
          <p:cNvSpPr/>
          <p:nvPr/>
        </p:nvSpPr>
        <p:spPr>
          <a:xfrm>
            <a:off x="1485900" y="1600200"/>
            <a:ext cx="685800" cy="68580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5" name="icon-20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1764792"/>
            <a:ext cx="356616" cy="356616"/>
          </a:xfrm>
          <a:prstGeom prst="rect">
            <a:avLst/>
          </a:prstGeom>
        </p:spPr>
      </p:pic>
      <p:sp>
        <p:nvSpPr>
          <p:cNvPr id="6" name="text-202"/>
          <p:cNvSpPr txBox="1"/>
          <p:nvPr/>
        </p:nvSpPr>
        <p:spPr>
          <a:xfrm>
            <a:off x="7315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Case file</a:t>
            </a:r>
            <a:endParaRPr lang="en-US" sz="1700" dirty="0"/>
          </a:p>
        </p:txBody>
      </p:sp>
      <p:sp>
        <p:nvSpPr>
          <p:cNvPr id="7" name="text-203"/>
          <p:cNvSpPr txBox="1"/>
          <p:nvPr/>
        </p:nvSpPr>
        <p:spPr>
          <a:xfrm>
            <a:off x="731520" y="2834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Compact facts: incidents, flow, findings, trust, memory, reputation</a:t>
            </a:r>
            <a:endParaRPr lang="en-US" sz="1250" dirty="0"/>
          </a:p>
        </p:txBody>
      </p:sp>
      <p:sp>
        <p:nvSpPr>
          <p:cNvPr id="8" name="arrow-204"/>
          <p:cNvSpPr/>
          <p:nvPr/>
        </p:nvSpPr>
        <p:spPr>
          <a:xfrm>
            <a:off x="3136392" y="2606040"/>
            <a:ext cx="219456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9" name="card-205"/>
          <p:cNvSpPr/>
          <p:nvPr/>
        </p:nvSpPr>
        <p:spPr>
          <a:xfrm>
            <a:off x="3383280" y="137160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icon-bg-206"/>
          <p:cNvSpPr/>
          <p:nvPr/>
        </p:nvSpPr>
        <p:spPr>
          <a:xfrm>
            <a:off x="4320540" y="1600200"/>
            <a:ext cx="685800" cy="68580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11" name="icon-2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1764792"/>
            <a:ext cx="356616" cy="356616"/>
          </a:xfrm>
          <a:prstGeom prst="rect">
            <a:avLst/>
          </a:prstGeom>
        </p:spPr>
      </p:pic>
      <p:sp>
        <p:nvSpPr>
          <p:cNvPr id="12" name="text-208"/>
          <p:cNvSpPr txBox="1"/>
          <p:nvPr/>
        </p:nvSpPr>
        <p:spPr>
          <a:xfrm>
            <a:off x="35661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Local LLM</a:t>
            </a:r>
            <a:endParaRPr lang="en-US" sz="1700" dirty="0"/>
          </a:p>
        </p:txBody>
      </p:sp>
      <p:sp>
        <p:nvSpPr>
          <p:cNvPr id="13" name="text-209"/>
          <p:cNvSpPr txBox="1"/>
          <p:nvPr/>
        </p:nvSpPr>
        <p:spPr>
          <a:xfrm>
            <a:off x="3566160" y="2834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Ollama / OpenAI-compatible: dolphin3, qwen3:30b-a3b - on CPU</a:t>
            </a:r>
            <a:endParaRPr lang="en-US" sz="1250" dirty="0"/>
          </a:p>
        </p:txBody>
      </p:sp>
      <p:sp>
        <p:nvSpPr>
          <p:cNvPr id="14" name="arrow-210"/>
          <p:cNvSpPr/>
          <p:nvPr/>
        </p:nvSpPr>
        <p:spPr>
          <a:xfrm>
            <a:off x="5971032" y="2606040"/>
            <a:ext cx="219456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15" name="card-211"/>
          <p:cNvSpPr/>
          <p:nvPr/>
        </p:nvSpPr>
        <p:spPr>
          <a:xfrm>
            <a:off x="6217920" y="137160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6" name="icon-bg-212"/>
          <p:cNvSpPr/>
          <p:nvPr/>
        </p:nvSpPr>
        <p:spPr>
          <a:xfrm>
            <a:off x="7155180" y="1600200"/>
            <a:ext cx="685800" cy="68580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7" name="icon-2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1764792"/>
            <a:ext cx="356616" cy="356616"/>
          </a:xfrm>
          <a:prstGeom prst="rect">
            <a:avLst/>
          </a:prstGeom>
        </p:spPr>
      </p:pic>
      <p:sp>
        <p:nvSpPr>
          <p:cNvPr id="18" name="text-214"/>
          <p:cNvSpPr txBox="1"/>
          <p:nvPr/>
        </p:nvSpPr>
        <p:spPr>
          <a:xfrm>
            <a:off x="640080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Validation</a:t>
            </a:r>
            <a:endParaRPr lang="en-US" sz="1700" dirty="0"/>
          </a:p>
        </p:txBody>
      </p:sp>
      <p:sp>
        <p:nvSpPr>
          <p:cNvPr id="19" name="text-215"/>
          <p:cNvSpPr txBox="1"/>
          <p:nvPr/>
        </p:nvSpPr>
        <p:spPr>
          <a:xfrm>
            <a:off x="6400800" y="2834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Checks cited evidence IDs, flags 'confirmed' and claimed actions</a:t>
            </a:r>
            <a:endParaRPr lang="en-US" sz="1250" dirty="0"/>
          </a:p>
        </p:txBody>
      </p:sp>
      <p:sp>
        <p:nvSpPr>
          <p:cNvPr id="20" name="arrow-216"/>
          <p:cNvSpPr/>
          <p:nvPr/>
        </p:nvSpPr>
        <p:spPr>
          <a:xfrm>
            <a:off x="8805672" y="2606040"/>
            <a:ext cx="219456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21" name="card-217"/>
          <p:cNvSpPr/>
          <p:nvPr/>
        </p:nvSpPr>
        <p:spPr>
          <a:xfrm>
            <a:off x="9052560" y="137160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2" name="icon-bg-218"/>
          <p:cNvSpPr/>
          <p:nvPr/>
        </p:nvSpPr>
        <p:spPr>
          <a:xfrm>
            <a:off x="9989820" y="1600200"/>
            <a:ext cx="685800" cy="68580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23" name="icon-2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1764792"/>
            <a:ext cx="356616" cy="356616"/>
          </a:xfrm>
          <a:prstGeom prst="rect">
            <a:avLst/>
          </a:prstGeom>
        </p:spPr>
      </p:pic>
      <p:sp>
        <p:nvSpPr>
          <p:cNvPr id="24" name="text-220"/>
          <p:cNvSpPr txBox="1"/>
          <p:nvPr/>
        </p:nvSpPr>
        <p:spPr>
          <a:xfrm>
            <a:off x="92354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Report</a:t>
            </a:r>
            <a:endParaRPr lang="en-US" sz="1700" dirty="0"/>
          </a:p>
        </p:txBody>
      </p:sp>
      <p:sp>
        <p:nvSpPr>
          <p:cNvPr id="25" name="text-221"/>
          <p:cNvSpPr txBox="1"/>
          <p:nvPr/>
        </p:nvSpPr>
        <p:spPr>
          <a:xfrm>
            <a:off x="9235440" y="2834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Narrative, attack flow, benign explanations, queries, priorities</a:t>
            </a:r>
            <a:endParaRPr lang="en-US" sz="1250" dirty="0"/>
          </a:p>
        </p:txBody>
      </p:sp>
      <p:sp>
        <p:nvSpPr>
          <p:cNvPr id="26" name="text-222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Ground rules for the AI</a:t>
            </a:r>
            <a:endParaRPr lang="en-US" sz="1800" dirty="0"/>
          </a:p>
        </p:txBody>
      </p:sp>
      <p:sp>
        <p:nvSpPr>
          <p:cNvPr id="27" name="text-223"/>
          <p:cNvSpPr txBox="1"/>
          <p:nvPr/>
        </p:nvSpPr>
        <p:spPr>
          <a:xfrm>
            <a:off x="548640" y="46177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Cites evidence IDs for every claim - never invents evidence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Incidents are 'suspected' or 'probable' until an analyst validates them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Recommends only: it never blocks, disables or executes anything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without AI too: a deterministic investigation with Splunk, KQL and grep queries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Threat intelligence: 8 sources, privacy first</a:t>
            </a:r>
            <a:endParaRPr lang="en-US" sz="3200" dirty="0"/>
          </a:p>
        </p:txBody>
      </p:sp>
      <p:sp>
        <p:nvSpPr>
          <p:cNvPr id="3" name="card-224"/>
          <p:cNvSpPr/>
          <p:nvPr/>
        </p:nvSpPr>
        <p:spPr>
          <a:xfrm>
            <a:off x="548640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sp>
        <p:nvSpPr>
          <p:cNvPr id="4" name="text-225"/>
          <p:cNvSpPr txBox="1"/>
          <p:nvPr/>
        </p:nvSpPr>
        <p:spPr>
          <a:xfrm>
            <a:off x="777240" y="1490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AlienVault OTX</a:t>
            </a:r>
            <a:endParaRPr lang="en-US" sz="1700" dirty="0"/>
          </a:p>
        </p:txBody>
      </p:sp>
      <p:sp>
        <p:nvSpPr>
          <p:cNvPr id="5" name="text-226"/>
          <p:cNvSpPr txBox="1"/>
          <p:nvPr/>
        </p:nvSpPr>
        <p:spPr>
          <a:xfrm>
            <a:off x="777240" y="1892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IP · domain · URL · hash</a:t>
            </a:r>
            <a:endParaRPr lang="en-US" sz="1200" dirty="0"/>
          </a:p>
        </p:txBody>
      </p:sp>
      <p:sp>
        <p:nvSpPr>
          <p:cNvPr id="6" name="text-227"/>
          <p:cNvSpPr txBox="1"/>
          <p:nvPr/>
        </p:nvSpPr>
        <p:spPr>
          <a:xfrm>
            <a:off x="77724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pulses, malware families</a:t>
            </a:r>
            <a:endParaRPr lang="en-US" sz="1200" dirty="0"/>
          </a:p>
        </p:txBody>
      </p:sp>
      <p:sp>
        <p:nvSpPr>
          <p:cNvPr id="7" name="card-228"/>
          <p:cNvSpPr/>
          <p:nvPr/>
        </p:nvSpPr>
        <p:spPr>
          <a:xfrm>
            <a:off x="3364992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-229"/>
          <p:cNvSpPr txBox="1"/>
          <p:nvPr/>
        </p:nvSpPr>
        <p:spPr>
          <a:xfrm>
            <a:off x="3593592" y="1490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AbuseIPDB</a:t>
            </a:r>
            <a:endParaRPr lang="en-US" sz="1700" dirty="0"/>
          </a:p>
        </p:txBody>
      </p:sp>
      <p:sp>
        <p:nvSpPr>
          <p:cNvPr id="9" name="text-230"/>
          <p:cNvSpPr txBox="1"/>
          <p:nvPr/>
        </p:nvSpPr>
        <p:spPr>
          <a:xfrm>
            <a:off x="3593592" y="1892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IP</a:t>
            </a:r>
            <a:endParaRPr lang="en-US" sz="1200" dirty="0"/>
          </a:p>
        </p:txBody>
      </p:sp>
      <p:sp>
        <p:nvSpPr>
          <p:cNvPr id="10" name="text-231"/>
          <p:cNvSpPr txBox="1"/>
          <p:nvPr/>
        </p:nvSpPr>
        <p:spPr>
          <a:xfrm>
            <a:off x="3593592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abuse confidence, reports</a:t>
            </a:r>
            <a:endParaRPr lang="en-US" sz="1200" dirty="0"/>
          </a:p>
        </p:txBody>
      </p:sp>
      <p:sp>
        <p:nvSpPr>
          <p:cNvPr id="11" name="card-232"/>
          <p:cNvSpPr/>
          <p:nvPr/>
        </p:nvSpPr>
        <p:spPr>
          <a:xfrm>
            <a:off x="6181344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2" name="text-233"/>
          <p:cNvSpPr txBox="1"/>
          <p:nvPr/>
        </p:nvSpPr>
        <p:spPr>
          <a:xfrm>
            <a:off x="6409944" y="1490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VirusTotal</a:t>
            </a:r>
            <a:endParaRPr lang="en-US" sz="1700" dirty="0"/>
          </a:p>
        </p:txBody>
      </p:sp>
      <p:sp>
        <p:nvSpPr>
          <p:cNvPr id="13" name="text-234"/>
          <p:cNvSpPr txBox="1"/>
          <p:nvPr/>
        </p:nvSpPr>
        <p:spPr>
          <a:xfrm>
            <a:off x="6409944" y="1892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IP · domain · URL · hash</a:t>
            </a:r>
            <a:endParaRPr lang="en-US" sz="1200" dirty="0"/>
          </a:p>
        </p:txBody>
      </p:sp>
      <p:sp>
        <p:nvSpPr>
          <p:cNvPr id="14" name="text-235"/>
          <p:cNvSpPr txBox="1"/>
          <p:nvPr/>
        </p:nvSpPr>
        <p:spPr>
          <a:xfrm>
            <a:off x="6409944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engine detections</a:t>
            </a:r>
            <a:endParaRPr lang="en-US" sz="1200" dirty="0"/>
          </a:p>
        </p:txBody>
      </p:sp>
      <p:sp>
        <p:nvSpPr>
          <p:cNvPr id="15" name="card-236"/>
          <p:cNvSpPr/>
          <p:nvPr/>
        </p:nvSpPr>
        <p:spPr>
          <a:xfrm>
            <a:off x="8997696" y="13258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6" name="text-237"/>
          <p:cNvSpPr txBox="1"/>
          <p:nvPr/>
        </p:nvSpPr>
        <p:spPr>
          <a:xfrm>
            <a:off x="9226296" y="1490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URLhaus</a:t>
            </a:r>
            <a:endParaRPr lang="en-US" sz="1700" dirty="0"/>
          </a:p>
        </p:txBody>
      </p:sp>
      <p:sp>
        <p:nvSpPr>
          <p:cNvPr id="17" name="text-238"/>
          <p:cNvSpPr txBox="1"/>
          <p:nvPr/>
        </p:nvSpPr>
        <p:spPr>
          <a:xfrm>
            <a:off x="9226296" y="1892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URL · host · payload</a:t>
            </a:r>
            <a:endParaRPr lang="en-US" sz="1200" dirty="0"/>
          </a:p>
        </p:txBody>
      </p:sp>
      <p:sp>
        <p:nvSpPr>
          <p:cNvPr id="18" name="text-239"/>
          <p:cNvSpPr txBox="1"/>
          <p:nvPr/>
        </p:nvSpPr>
        <p:spPr>
          <a:xfrm>
            <a:off x="9226296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malware distribution URLs</a:t>
            </a:r>
            <a:endParaRPr lang="en-US" sz="1200" dirty="0"/>
          </a:p>
        </p:txBody>
      </p:sp>
      <p:sp>
        <p:nvSpPr>
          <p:cNvPr id="19" name="card-240"/>
          <p:cNvSpPr/>
          <p:nvPr/>
        </p:nvSpPr>
        <p:spPr>
          <a:xfrm>
            <a:off x="548640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0" name="text-241"/>
          <p:cNvSpPr txBox="1"/>
          <p:nvPr/>
        </p:nvSpPr>
        <p:spPr>
          <a:xfrm>
            <a:off x="777240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ThreatFox</a:t>
            </a:r>
            <a:endParaRPr lang="en-US" sz="1700" dirty="0"/>
          </a:p>
        </p:txBody>
      </p:sp>
      <p:sp>
        <p:nvSpPr>
          <p:cNvPr id="21" name="text-242"/>
          <p:cNvSpPr txBox="1"/>
          <p:nvPr/>
        </p:nvSpPr>
        <p:spPr>
          <a:xfrm>
            <a:off x="777240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IP · domain · URL · hash</a:t>
            </a:r>
            <a:endParaRPr lang="en-US" sz="1200" dirty="0"/>
          </a:p>
        </p:txBody>
      </p:sp>
      <p:sp>
        <p:nvSpPr>
          <p:cNvPr id="22" name="text-243"/>
          <p:cNvSpPr txBox="1"/>
          <p:nvPr/>
        </p:nvSpPr>
        <p:spPr>
          <a:xfrm>
            <a:off x="777240" y="3794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C2 &amp; botnet IOCs</a:t>
            </a:r>
            <a:endParaRPr lang="en-US" sz="1200" dirty="0"/>
          </a:p>
        </p:txBody>
      </p:sp>
      <p:sp>
        <p:nvSpPr>
          <p:cNvPr id="23" name="card-244"/>
          <p:cNvSpPr/>
          <p:nvPr/>
        </p:nvSpPr>
        <p:spPr>
          <a:xfrm>
            <a:off x="3364992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4" name="text-245"/>
          <p:cNvSpPr txBox="1"/>
          <p:nvPr/>
        </p:nvSpPr>
        <p:spPr>
          <a:xfrm>
            <a:off x="3593592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MalwareBazaar</a:t>
            </a:r>
            <a:endParaRPr lang="en-US" sz="1700" dirty="0"/>
          </a:p>
        </p:txBody>
      </p:sp>
      <p:sp>
        <p:nvSpPr>
          <p:cNvPr id="25" name="text-246"/>
          <p:cNvSpPr txBox="1"/>
          <p:nvPr/>
        </p:nvSpPr>
        <p:spPr>
          <a:xfrm>
            <a:off x="3593592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file hash</a:t>
            </a:r>
            <a:endParaRPr lang="en-US" sz="1200" dirty="0"/>
          </a:p>
        </p:txBody>
      </p:sp>
      <p:sp>
        <p:nvSpPr>
          <p:cNvPr id="26" name="text-247"/>
          <p:cNvSpPr txBox="1"/>
          <p:nvPr/>
        </p:nvSpPr>
        <p:spPr>
          <a:xfrm>
            <a:off x="3593592" y="3794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malware family / signature</a:t>
            </a:r>
            <a:endParaRPr lang="en-US" sz="1200" dirty="0"/>
          </a:p>
        </p:txBody>
      </p:sp>
      <p:sp>
        <p:nvSpPr>
          <p:cNvPr id="27" name="card-248"/>
          <p:cNvSpPr/>
          <p:nvPr/>
        </p:nvSpPr>
        <p:spPr>
          <a:xfrm>
            <a:off x="6181344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8" name="text-249"/>
          <p:cNvSpPr txBox="1"/>
          <p:nvPr/>
        </p:nvSpPr>
        <p:spPr>
          <a:xfrm>
            <a:off x="6409944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PhishTank</a:t>
            </a:r>
            <a:endParaRPr lang="en-US" sz="1700" dirty="0"/>
          </a:p>
        </p:txBody>
      </p:sp>
      <p:sp>
        <p:nvSpPr>
          <p:cNvPr id="29" name="text-250"/>
          <p:cNvSpPr txBox="1"/>
          <p:nvPr/>
        </p:nvSpPr>
        <p:spPr>
          <a:xfrm>
            <a:off x="6409944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URL</a:t>
            </a:r>
            <a:endParaRPr lang="en-US" sz="1200" dirty="0"/>
          </a:p>
        </p:txBody>
      </p:sp>
      <p:sp>
        <p:nvSpPr>
          <p:cNvPr id="30" name="text-251"/>
          <p:cNvSpPr txBox="1"/>
          <p:nvPr/>
        </p:nvSpPr>
        <p:spPr>
          <a:xfrm>
            <a:off x="6409944" y="3794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verified phishing sites</a:t>
            </a:r>
            <a:endParaRPr lang="en-US" sz="1200" dirty="0"/>
          </a:p>
        </p:txBody>
      </p:sp>
      <p:sp>
        <p:nvSpPr>
          <p:cNvPr id="31" name="card-252"/>
          <p:cNvSpPr/>
          <p:nvPr/>
        </p:nvSpPr>
        <p:spPr>
          <a:xfrm>
            <a:off x="8997696" y="29260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2" name="text-253"/>
          <p:cNvSpPr txBox="1"/>
          <p:nvPr/>
        </p:nvSpPr>
        <p:spPr>
          <a:xfrm>
            <a:off x="922629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CIRCL CVE</a:t>
            </a:r>
            <a:endParaRPr lang="en-US" sz="1700" dirty="0"/>
          </a:p>
        </p:txBody>
      </p:sp>
      <p:sp>
        <p:nvSpPr>
          <p:cNvPr id="33" name="text-254"/>
          <p:cNvSpPr txBox="1"/>
          <p:nvPr/>
        </p:nvSpPr>
        <p:spPr>
          <a:xfrm>
            <a:off x="9226296" y="3493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CVE ID</a:t>
            </a:r>
            <a:endParaRPr lang="en-US" sz="1200" dirty="0"/>
          </a:p>
        </p:txBody>
      </p:sp>
      <p:sp>
        <p:nvSpPr>
          <p:cNvPr id="34" name="text-255"/>
          <p:cNvSpPr txBox="1"/>
          <p:nvPr/>
        </p:nvSpPr>
        <p:spPr>
          <a:xfrm>
            <a:off x="9226296" y="3794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CVSS, affected products</a:t>
            </a:r>
            <a:endParaRPr lang="en-US" sz="1200" dirty="0"/>
          </a:p>
        </p:txBody>
      </p:sp>
      <p:sp>
        <p:nvSpPr>
          <p:cNvPr id="35" name="card-256"/>
          <p:cNvSpPr/>
          <p:nvPr/>
        </p:nvSpPr>
        <p:spPr>
          <a:xfrm>
            <a:off x="548640" y="466344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icon-bg-257"/>
          <p:cNvSpPr/>
          <p:nvPr/>
        </p:nvSpPr>
        <p:spPr>
          <a:xfrm>
            <a:off x="777240" y="4919472"/>
            <a:ext cx="640080" cy="64008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37" name="icon-2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073091"/>
            <a:ext cx="332842" cy="332842"/>
          </a:xfrm>
          <a:prstGeom prst="rect">
            <a:avLst/>
          </a:prstGeom>
        </p:spPr>
      </p:pic>
      <p:sp>
        <p:nvSpPr>
          <p:cNvPr id="38" name="text-259"/>
          <p:cNvSpPr txBox="1"/>
          <p:nvPr/>
        </p:nvSpPr>
        <p:spPr>
          <a:xfrm>
            <a:off x="1645920" y="4800600"/>
            <a:ext cx="9768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Off by default and on request only. Only the indicator value is sent - never log lines. Private, internal and your own (trusted) addresses are refused. URLs are looked up, never submitted. Responses are size-capped, cached and rate-limited; redirects are refused so API keys can't leak.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Live analysis of SIEM-forwarded logs</a:t>
            </a:r>
            <a:endParaRPr lang="en-US" sz="3200" dirty="0"/>
          </a:p>
        </p:txBody>
      </p:sp>
      <p:sp>
        <p:nvSpPr>
          <p:cNvPr id="3" name="step-260"/>
          <p:cNvSpPr/>
          <p:nvPr/>
        </p:nvSpPr>
        <p:spPr>
          <a:xfrm>
            <a:off x="548640" y="1325880"/>
            <a:ext cx="4480560" cy="713232"/>
          </a:xfrm>
          <a:prstGeom prst="roundRect">
            <a:avLst>
              <a:gd name="adj" fmla="val 1282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text-261"/>
          <p:cNvSpPr txBox="1"/>
          <p:nvPr/>
        </p:nvSpPr>
        <p:spPr>
          <a:xfrm>
            <a:off x="777240" y="139903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SIEM</a:t>
            </a:r>
            <a:endParaRPr lang="en-US" sz="1500" dirty="0"/>
          </a:p>
        </p:txBody>
      </p:sp>
      <p:sp>
        <p:nvSpPr>
          <p:cNvPr id="5" name="text-262"/>
          <p:cNvSpPr txBox="1"/>
          <p:nvPr/>
        </p:nvSpPr>
        <p:spPr>
          <a:xfrm>
            <a:off x="777240" y="1709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Splunk · Wazuh · Graylog · Elastic · rsyslog</a:t>
            </a:r>
            <a:endParaRPr lang="en-US" sz="1200" dirty="0"/>
          </a:p>
        </p:txBody>
      </p:sp>
      <p:sp>
        <p:nvSpPr>
          <p:cNvPr id="6" name="arrow-263"/>
          <p:cNvSpPr/>
          <p:nvPr/>
        </p:nvSpPr>
        <p:spPr>
          <a:xfrm>
            <a:off x="2788920" y="2057400"/>
            <a:ext cx="0" cy="164592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7" name="step-264"/>
          <p:cNvSpPr/>
          <p:nvPr/>
        </p:nvSpPr>
        <p:spPr>
          <a:xfrm>
            <a:off x="548640" y="2240280"/>
            <a:ext cx="4480560" cy="713232"/>
          </a:xfrm>
          <a:prstGeom prst="roundRect">
            <a:avLst>
              <a:gd name="adj" fmla="val 1282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-265"/>
          <p:cNvSpPr txBox="1"/>
          <p:nvPr/>
        </p:nvSpPr>
        <p:spPr>
          <a:xfrm>
            <a:off x="777240" y="231343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Receiver</a:t>
            </a:r>
            <a:endParaRPr lang="en-US" sz="1500" dirty="0"/>
          </a:p>
        </p:txBody>
      </p:sp>
      <p:sp>
        <p:nvSpPr>
          <p:cNvPr id="9" name="text-266"/>
          <p:cNvSpPr txBox="1"/>
          <p:nvPr/>
        </p:nvSpPr>
        <p:spPr>
          <a:xfrm>
            <a:off x="777240" y="2624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HTTPS + ingest token, or syslog UDP/TCP</a:t>
            </a:r>
            <a:endParaRPr lang="en-US" sz="1200" dirty="0"/>
          </a:p>
        </p:txBody>
      </p:sp>
      <p:sp>
        <p:nvSpPr>
          <p:cNvPr id="10" name="arrow-267"/>
          <p:cNvSpPr/>
          <p:nvPr/>
        </p:nvSpPr>
        <p:spPr>
          <a:xfrm>
            <a:off x="2788920" y="2971800"/>
            <a:ext cx="0" cy="164592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11" name="step-268"/>
          <p:cNvSpPr/>
          <p:nvPr/>
        </p:nvSpPr>
        <p:spPr>
          <a:xfrm>
            <a:off x="548640" y="3154680"/>
            <a:ext cx="4480560" cy="713232"/>
          </a:xfrm>
          <a:prstGeom prst="roundRect">
            <a:avLst>
              <a:gd name="adj" fmla="val 1282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2" name="text-269"/>
          <p:cNvSpPr txBox="1"/>
          <p:nvPr/>
        </p:nvSpPr>
        <p:spPr>
          <a:xfrm>
            <a:off x="777240" y="322783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Rolling window</a:t>
            </a:r>
            <a:endParaRPr lang="en-US" sz="1500" dirty="0"/>
          </a:p>
        </p:txBody>
      </p:sp>
      <p:sp>
        <p:nvSpPr>
          <p:cNvPr id="13" name="text-270"/>
          <p:cNvSpPr txBox="1"/>
          <p:nvPr/>
        </p:nvSpPr>
        <p:spPr>
          <a:xfrm>
            <a:off x="777240" y="3538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last 60 min re-analysed every 20 s</a:t>
            </a:r>
            <a:endParaRPr lang="en-US" sz="1200" dirty="0"/>
          </a:p>
        </p:txBody>
      </p:sp>
      <p:sp>
        <p:nvSpPr>
          <p:cNvPr id="14" name="arrow-271"/>
          <p:cNvSpPr/>
          <p:nvPr/>
        </p:nvSpPr>
        <p:spPr>
          <a:xfrm>
            <a:off x="2788920" y="3886200"/>
            <a:ext cx="0" cy="164592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15" name="step-272"/>
          <p:cNvSpPr/>
          <p:nvPr/>
        </p:nvSpPr>
        <p:spPr>
          <a:xfrm>
            <a:off x="548640" y="4069080"/>
            <a:ext cx="4480560" cy="713232"/>
          </a:xfrm>
          <a:prstGeom prst="roundRect">
            <a:avLst>
              <a:gd name="adj" fmla="val 12821"/>
            </a:avLst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16" name="text-273"/>
          <p:cNvSpPr txBox="1"/>
          <p:nvPr/>
        </p:nvSpPr>
        <p:spPr>
          <a:xfrm>
            <a:off x="777240" y="414223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Live alerts</a:t>
            </a:r>
            <a:endParaRPr lang="en-US" sz="1500" dirty="0"/>
          </a:p>
        </p:txBody>
      </p:sp>
      <p:sp>
        <p:nvSpPr>
          <p:cNvPr id="17" name="text-274"/>
          <p:cNvSpPr txBox="1"/>
          <p:nvPr/>
        </p:nvSpPr>
        <p:spPr>
          <a:xfrm>
            <a:off x="777240" y="4453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new / acknowledged, action taken, flagged stream</a:t>
            </a:r>
            <a:endParaRPr lang="en-US" sz="1200" dirty="0"/>
          </a:p>
        </p:txBody>
      </p:sp>
      <p:sp>
        <p:nvSpPr>
          <p:cNvPr id="18" name="arrow-275"/>
          <p:cNvSpPr/>
          <p:nvPr/>
        </p:nvSpPr>
        <p:spPr>
          <a:xfrm>
            <a:off x="2788920" y="4800600"/>
            <a:ext cx="0" cy="164592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19" name="step-276"/>
          <p:cNvSpPr/>
          <p:nvPr/>
        </p:nvSpPr>
        <p:spPr>
          <a:xfrm>
            <a:off x="548640" y="4983480"/>
            <a:ext cx="4480560" cy="713232"/>
          </a:xfrm>
          <a:prstGeom prst="roundRect">
            <a:avLst>
              <a:gd name="adj" fmla="val 1282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0" name="text-277"/>
          <p:cNvSpPr txBox="1"/>
          <p:nvPr/>
        </p:nvSpPr>
        <p:spPr>
          <a:xfrm>
            <a:off x="777240" y="505663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Snapshot</a:t>
            </a:r>
            <a:endParaRPr lang="en-US" sz="1500" dirty="0"/>
          </a:p>
        </p:txBody>
      </p:sp>
      <p:sp>
        <p:nvSpPr>
          <p:cNvPr id="21" name="text-278"/>
          <p:cNvSpPr txBox="1"/>
          <p:nvPr/>
        </p:nvSpPr>
        <p:spPr>
          <a:xfrm>
            <a:off x="777240" y="5367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 History → diagram, forensics, AI, PDF</a:t>
            </a:r>
            <a:endParaRPr lang="en-US" sz="1200" dirty="0"/>
          </a:p>
        </p:txBody>
      </p:sp>
      <p:sp>
        <p:nvSpPr>
          <p:cNvPr id="22" name="frame-279"/>
          <p:cNvSpPr/>
          <p:nvPr/>
        </p:nvSpPr>
        <p:spPr>
          <a:xfrm>
            <a:off x="5385816" y="1316736"/>
            <a:ext cx="6281928" cy="4053078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12700">
            <a:solidFill>
              <a:srgbClr val="D9E1E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A2B">
                <a:alpha val="18000"/>
              </a:srgbClr>
            </a:outerShdw>
          </a:effectLst>
        </p:spPr>
      </p:sp>
      <p:pic>
        <p:nvPicPr>
          <p:cNvPr id="23" name="screenshot-280" descr="/home/user/CyberSecuirty/ai-agent/docs/screenshot-l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71600"/>
            <a:ext cx="6172200" cy="39433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agent learns from your data</a:t>
            </a:r>
            <a:endParaRPr lang="en-US" sz="3200" dirty="0"/>
          </a:p>
        </p:txBody>
      </p:sp>
      <p:sp>
        <p:nvSpPr>
          <p:cNvPr id="3" name="card-281"/>
          <p:cNvSpPr/>
          <p:nvPr/>
        </p:nvSpPr>
        <p:spPr>
          <a:xfrm>
            <a:off x="548640" y="132588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icon-bg-282"/>
          <p:cNvSpPr/>
          <p:nvPr/>
        </p:nvSpPr>
        <p:spPr>
          <a:xfrm>
            <a:off x="868680" y="1691640"/>
            <a:ext cx="777240" cy="77724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5" name="icon-28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78178"/>
            <a:ext cx="404165" cy="404165"/>
          </a:xfrm>
          <a:prstGeom prst="rect">
            <a:avLst/>
          </a:prstGeom>
        </p:spPr>
      </p:pic>
      <p:sp>
        <p:nvSpPr>
          <p:cNvPr id="6" name="text-284"/>
          <p:cNvSpPr txBox="1"/>
          <p:nvPr/>
        </p:nvSpPr>
        <p:spPr>
          <a:xfrm>
            <a:off x="1874520" y="16459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Analyst verdicts</a:t>
            </a:r>
            <a:endParaRPr lang="en-US" sz="1900" dirty="0"/>
          </a:p>
        </p:txBody>
      </p:sp>
      <p:sp>
        <p:nvSpPr>
          <p:cNvPr id="7" name="text-285"/>
          <p:cNvSpPr txBox="1"/>
          <p:nvPr/>
        </p:nvSpPr>
        <p:spPr>
          <a:xfrm>
            <a:off x="1874520" y="21031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True / false positive on a finding adjusts confidence and risk for the same rule and entity next time</a:t>
            </a:r>
            <a:endParaRPr lang="en-US" sz="1500" dirty="0"/>
          </a:p>
        </p:txBody>
      </p:sp>
      <p:sp>
        <p:nvSpPr>
          <p:cNvPr id="8" name="card-286"/>
          <p:cNvSpPr/>
          <p:nvPr/>
        </p:nvSpPr>
        <p:spPr>
          <a:xfrm>
            <a:off x="6172200" y="132588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icon-bg-287"/>
          <p:cNvSpPr/>
          <p:nvPr/>
        </p:nvSpPr>
        <p:spPr>
          <a:xfrm>
            <a:off x="6492240" y="1691640"/>
            <a:ext cx="777240" cy="77724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10" name="icon-28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1878178"/>
            <a:ext cx="404165" cy="404165"/>
          </a:xfrm>
          <a:prstGeom prst="rect">
            <a:avLst/>
          </a:prstGeom>
        </p:spPr>
      </p:pic>
      <p:sp>
        <p:nvSpPr>
          <p:cNvPr id="11" name="text-289"/>
          <p:cNvSpPr txBox="1"/>
          <p:nvPr/>
        </p:nvSpPr>
        <p:spPr>
          <a:xfrm>
            <a:off x="7498080" y="16459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Learned IoC feed</a:t>
            </a:r>
            <a:endParaRPr lang="en-US" sz="1900" dirty="0"/>
          </a:p>
        </p:txBody>
      </p:sp>
      <p:sp>
        <p:nvSpPr>
          <p:cNvPr id="12" name="text-290"/>
          <p:cNvSpPr txBox="1"/>
          <p:nvPr/>
        </p:nvSpPr>
        <p:spPr>
          <a:xfrm>
            <a:off x="7498080" y="21031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Confirmed and reputation-malicious indicators are matched offline in every later analysis</a:t>
            </a:r>
            <a:endParaRPr lang="en-US" sz="1500" dirty="0"/>
          </a:p>
        </p:txBody>
      </p:sp>
      <p:sp>
        <p:nvSpPr>
          <p:cNvPr id="13" name="card-291"/>
          <p:cNvSpPr/>
          <p:nvPr/>
        </p:nvSpPr>
        <p:spPr>
          <a:xfrm>
            <a:off x="548640" y="33375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4" name="icon-bg-292"/>
          <p:cNvSpPr/>
          <p:nvPr/>
        </p:nvSpPr>
        <p:spPr>
          <a:xfrm>
            <a:off x="868680" y="3703320"/>
            <a:ext cx="777240" cy="77724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15" name="icon-29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3889858"/>
            <a:ext cx="404165" cy="404165"/>
          </a:xfrm>
          <a:prstGeom prst="rect">
            <a:avLst/>
          </a:prstGeom>
        </p:spPr>
      </p:pic>
      <p:sp>
        <p:nvSpPr>
          <p:cNvPr id="16" name="text-294"/>
          <p:cNvSpPr txBox="1"/>
          <p:nvPr/>
        </p:nvSpPr>
        <p:spPr>
          <a:xfrm>
            <a:off x="1874520" y="36576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Sightings &amp; prevalence</a:t>
            </a:r>
            <a:endParaRPr lang="en-US" sz="1900" dirty="0"/>
          </a:p>
        </p:txBody>
      </p:sp>
      <p:sp>
        <p:nvSpPr>
          <p:cNvPr id="17" name="text-295"/>
          <p:cNvSpPr txBox="1"/>
          <p:nvPr/>
        </p:nvSpPr>
        <p:spPr>
          <a:xfrm>
            <a:off x="1874520" y="4114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"Seen in 3 earlier analyses" and "this rule never fired before" from the history</a:t>
            </a:r>
            <a:endParaRPr lang="en-US" sz="1500" dirty="0"/>
          </a:p>
        </p:txBody>
      </p:sp>
      <p:sp>
        <p:nvSpPr>
          <p:cNvPr id="18" name="card-296"/>
          <p:cNvSpPr/>
          <p:nvPr/>
        </p:nvSpPr>
        <p:spPr>
          <a:xfrm>
            <a:off x="6172200" y="33375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9" name="icon-bg-297"/>
          <p:cNvSpPr/>
          <p:nvPr/>
        </p:nvSpPr>
        <p:spPr>
          <a:xfrm>
            <a:off x="6492240" y="3703320"/>
            <a:ext cx="777240" cy="77724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20" name="icon-29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3889858"/>
            <a:ext cx="404165" cy="404165"/>
          </a:xfrm>
          <a:prstGeom prst="rect">
            <a:avLst/>
          </a:prstGeom>
        </p:spPr>
      </p:pic>
      <p:sp>
        <p:nvSpPr>
          <p:cNvPr id="21" name="text-299"/>
          <p:cNvSpPr txBox="1"/>
          <p:nvPr/>
        </p:nvSpPr>
        <p:spPr>
          <a:xfrm>
            <a:off x="7498080" y="36576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UEBA baselines</a:t>
            </a:r>
            <a:endParaRPr lang="en-US" sz="1900" dirty="0"/>
          </a:p>
        </p:txBody>
      </p:sp>
      <p:sp>
        <p:nvSpPr>
          <p:cNvPr id="22" name="text-300"/>
          <p:cNvSpPr txBox="1"/>
          <p:nvPr/>
        </p:nvSpPr>
        <p:spPr>
          <a:xfrm>
            <a:off x="7498080" y="41148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Normal behaviour per account, learned from stored logs - each log set once</a:t>
            </a:r>
            <a:endParaRPr lang="en-US" sz="1500" dirty="0"/>
          </a:p>
        </p:txBody>
      </p:sp>
      <p:sp>
        <p:nvSpPr>
          <p:cNvPr id="23" name="text-301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No model retraining: a CPU can't fine-tune, and weights trained on attacker-controlled logs could be poisoned. The memory is reviewable and removable in the UI, it never hides a finding, and severity never changes.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Framework &amp; technology stack</a:t>
            </a:r>
            <a:endParaRPr lang="en-US" sz="3200" dirty="0"/>
          </a:p>
        </p:txBody>
      </p:sp>
      <p:sp>
        <p:nvSpPr>
          <p:cNvPr id="3" name="card-302"/>
          <p:cNvSpPr/>
          <p:nvPr/>
        </p:nvSpPr>
        <p:spPr>
          <a:xfrm>
            <a:off x="548640" y="13258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icon-bg-303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5" name="icon-3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86154"/>
            <a:ext cx="285293" cy="285293"/>
          </a:xfrm>
          <a:prstGeom prst="rect">
            <a:avLst/>
          </a:prstGeom>
        </p:spPr>
      </p:pic>
      <p:sp>
        <p:nvSpPr>
          <p:cNvPr id="6" name="text-305"/>
          <p:cNvSpPr txBox="1"/>
          <p:nvPr/>
        </p:nvSpPr>
        <p:spPr>
          <a:xfrm>
            <a:off x="1463040" y="16276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</a:t>
            </a:r>
            <a:endParaRPr lang="en-US" sz="1800" dirty="0"/>
          </a:p>
        </p:txBody>
      </p:sp>
      <p:sp>
        <p:nvSpPr>
          <p:cNvPr id="7" name="text-306"/>
          <p:cNvSpPr txBox="1"/>
          <p:nvPr/>
        </p:nvSpPr>
        <p:spPr>
          <a:xfrm>
            <a:off x="77724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Python 3.8+ standard library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http.server, ssl, threading, socketserver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No web framework, no database</a:t>
            </a:r>
            <a:endParaRPr lang="en-US" sz="1350" dirty="0"/>
          </a:p>
        </p:txBody>
      </p:sp>
      <p:sp>
        <p:nvSpPr>
          <p:cNvPr id="8" name="card-307"/>
          <p:cNvSpPr/>
          <p:nvPr/>
        </p:nvSpPr>
        <p:spPr>
          <a:xfrm>
            <a:off x="4315968" y="13258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icon-bg-308"/>
          <p:cNvSpPr/>
          <p:nvPr/>
        </p:nvSpPr>
        <p:spPr>
          <a:xfrm>
            <a:off x="4544568" y="1554480"/>
            <a:ext cx="548640" cy="54864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0" name="icon-30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242" y="1686154"/>
            <a:ext cx="285293" cy="285293"/>
          </a:xfrm>
          <a:prstGeom prst="rect">
            <a:avLst/>
          </a:prstGeom>
        </p:spPr>
      </p:pic>
      <p:sp>
        <p:nvSpPr>
          <p:cNvPr id="11" name="text-310"/>
          <p:cNvSpPr txBox="1"/>
          <p:nvPr/>
        </p:nvSpPr>
        <p:spPr>
          <a:xfrm>
            <a:off x="5230368" y="16276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</a:t>
            </a:r>
            <a:endParaRPr lang="en-US" sz="1800" dirty="0"/>
          </a:p>
        </p:txBody>
      </p:sp>
      <p:sp>
        <p:nvSpPr>
          <p:cNvPr id="12" name="text-311"/>
          <p:cNvSpPr txBox="1"/>
          <p:nvPr/>
        </p:nvSpPr>
        <p:spPr>
          <a:xfrm>
            <a:off x="4544568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Ollama or any OpenAI-compatible server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dolphin3 (uncensored), qwen3:30b-a3b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CPU-tuned, model kept in RAM</a:t>
            </a:r>
            <a:endParaRPr lang="en-US" sz="1350" dirty="0"/>
          </a:p>
        </p:txBody>
      </p:sp>
      <p:sp>
        <p:nvSpPr>
          <p:cNvPr id="13" name="card-312"/>
          <p:cNvSpPr/>
          <p:nvPr/>
        </p:nvSpPr>
        <p:spPr>
          <a:xfrm>
            <a:off x="8083296" y="13258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4" name="icon-bg-313"/>
          <p:cNvSpPr/>
          <p:nvPr/>
        </p:nvSpPr>
        <p:spPr>
          <a:xfrm>
            <a:off x="8311896" y="1554480"/>
            <a:ext cx="548640" cy="54864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15" name="icon-3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570" y="1686154"/>
            <a:ext cx="285293" cy="285293"/>
          </a:xfrm>
          <a:prstGeom prst="rect">
            <a:avLst/>
          </a:prstGeom>
        </p:spPr>
      </p:pic>
      <p:sp>
        <p:nvSpPr>
          <p:cNvPr id="16" name="text-315"/>
          <p:cNvSpPr txBox="1"/>
          <p:nvPr/>
        </p:nvSpPr>
        <p:spPr>
          <a:xfrm>
            <a:off x="8997696" y="16276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800" dirty="0"/>
          </a:p>
        </p:txBody>
      </p:sp>
      <p:sp>
        <p:nvSpPr>
          <p:cNvPr id="17" name="text-316"/>
          <p:cNvSpPr txBox="1"/>
          <p:nvPr/>
        </p:nvSpPr>
        <p:spPr>
          <a:xfrm>
            <a:off x="8311896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Single-file HTML / CSS / JavaScript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Inline SVG charts and diagrams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No build step, strict CSP</a:t>
            </a:r>
            <a:endParaRPr lang="en-US" sz="1350" dirty="0"/>
          </a:p>
        </p:txBody>
      </p:sp>
      <p:sp>
        <p:nvSpPr>
          <p:cNvPr id="18" name="card-317"/>
          <p:cNvSpPr/>
          <p:nvPr/>
        </p:nvSpPr>
        <p:spPr>
          <a:xfrm>
            <a:off x="548640" y="36118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9" name="icon-bg-318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20" name="icon-3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972154"/>
            <a:ext cx="285293" cy="285293"/>
          </a:xfrm>
          <a:prstGeom prst="rect">
            <a:avLst/>
          </a:prstGeom>
        </p:spPr>
      </p:pic>
      <p:sp>
        <p:nvSpPr>
          <p:cNvPr id="21" name="text-320"/>
          <p:cNvSpPr txBox="1"/>
          <p:nvPr/>
        </p:nvSpPr>
        <p:spPr>
          <a:xfrm>
            <a:off x="1463040" y="39136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Reporting</a:t>
            </a:r>
            <a:endParaRPr lang="en-US" sz="1800" dirty="0"/>
          </a:p>
        </p:txBody>
      </p:sp>
      <p:sp>
        <p:nvSpPr>
          <p:cNvPr id="22" name="text-321"/>
          <p:cNvSpPr txBox="1"/>
          <p:nvPr/>
        </p:nvSpPr>
        <p:spPr>
          <a:xfrm>
            <a:off x="77724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ReportLab (optional)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15-section A4 PDF, branded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Markdown and JSON exports</a:t>
            </a:r>
            <a:endParaRPr lang="en-US" sz="1350" dirty="0"/>
          </a:p>
        </p:txBody>
      </p:sp>
      <p:sp>
        <p:nvSpPr>
          <p:cNvPr id="23" name="card-322"/>
          <p:cNvSpPr/>
          <p:nvPr/>
        </p:nvSpPr>
        <p:spPr>
          <a:xfrm>
            <a:off x="4315968" y="36118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4" name="icon-bg-323"/>
          <p:cNvSpPr/>
          <p:nvPr/>
        </p:nvSpPr>
        <p:spPr>
          <a:xfrm>
            <a:off x="4544568" y="3840480"/>
            <a:ext cx="548640" cy="54864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25" name="icon-32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242" y="3972154"/>
            <a:ext cx="285293" cy="285293"/>
          </a:xfrm>
          <a:prstGeom prst="rect">
            <a:avLst/>
          </a:prstGeom>
        </p:spPr>
      </p:pic>
      <p:sp>
        <p:nvSpPr>
          <p:cNvPr id="26" name="text-325"/>
          <p:cNvSpPr txBox="1"/>
          <p:nvPr/>
        </p:nvSpPr>
        <p:spPr>
          <a:xfrm>
            <a:off x="5230368" y="39136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Operations</a:t>
            </a:r>
            <a:endParaRPr lang="en-US" sz="1800" dirty="0"/>
          </a:p>
        </p:txBody>
      </p:sp>
      <p:sp>
        <p:nvSpPr>
          <p:cNvPr id="27" name="text-326"/>
          <p:cNvSpPr txBox="1"/>
          <p:nvPr/>
        </p:nvSpPr>
        <p:spPr>
          <a:xfrm>
            <a:off x="4544568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Linux + systemd service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HTTPS on 443, http→https redirect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One-command setup script</a:t>
            </a:r>
            <a:endParaRPr lang="en-US" sz="1350" dirty="0"/>
          </a:p>
        </p:txBody>
      </p:sp>
      <p:sp>
        <p:nvSpPr>
          <p:cNvPr id="28" name="card-327"/>
          <p:cNvSpPr/>
          <p:nvPr/>
        </p:nvSpPr>
        <p:spPr>
          <a:xfrm>
            <a:off x="8083296" y="36118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9" name="icon-bg-328"/>
          <p:cNvSpPr/>
          <p:nvPr/>
        </p:nvSpPr>
        <p:spPr>
          <a:xfrm>
            <a:off x="8311896" y="3840480"/>
            <a:ext cx="548640" cy="548640"/>
          </a:xfrm>
          <a:prstGeom prst="ellipse">
            <a:avLst/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pic>
        <p:nvPicPr>
          <p:cNvPr id="30" name="icon-32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570" y="3972154"/>
            <a:ext cx="285293" cy="285293"/>
          </a:xfrm>
          <a:prstGeom prst="rect">
            <a:avLst/>
          </a:prstGeom>
        </p:spPr>
      </p:pic>
      <p:sp>
        <p:nvSpPr>
          <p:cNvPr id="31" name="text-330"/>
          <p:cNvSpPr txBox="1"/>
          <p:nvPr/>
        </p:nvSpPr>
        <p:spPr>
          <a:xfrm>
            <a:off x="8997696" y="39136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Quality</a:t>
            </a:r>
            <a:endParaRPr lang="en-US" sz="1800" dirty="0"/>
          </a:p>
        </p:txBody>
      </p:sp>
      <p:sp>
        <p:nvSpPr>
          <p:cNvPr id="32" name="text-331"/>
          <p:cNvSpPr txBox="1"/>
          <p:nvPr/>
        </p:nvSpPr>
        <p:spPr>
          <a:xfrm>
            <a:off x="8311896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152 unittest tests (3.10 + 3.13)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Playwright UI checks, PDF layout checks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bandit static analysis + manual VAPT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Security of the tool: VAPT results</a:t>
            </a:r>
            <a:endParaRPr lang="en-US" sz="3200" dirty="0"/>
          </a:p>
        </p:txBody>
      </p:sp>
      <p:sp>
        <p:nvSpPr>
          <p:cNvPr id="3" name="text-332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33 findings from a structured code review and attack tests - all fixed and covered by regression tests</a:t>
            </a:r>
            <a:endParaRPr lang="en-US" sz="1500" dirty="0"/>
          </a:p>
        </p:txBody>
      </p:sp>
      <p:sp>
        <p:nvSpPr>
          <p:cNvPr id="4" name="card-333"/>
          <p:cNvSpPr/>
          <p:nvPr/>
        </p:nvSpPr>
        <p:spPr>
          <a:xfrm>
            <a:off x="548640" y="1783080"/>
            <a:ext cx="1078992" cy="1463040"/>
          </a:xfrm>
          <a:prstGeom prst="roundRect">
            <a:avLst>
              <a:gd name="adj" fmla="val 1016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5" name="text-334"/>
          <p:cNvSpPr txBox="1"/>
          <p:nvPr/>
        </p:nvSpPr>
        <p:spPr>
          <a:xfrm>
            <a:off x="548640" y="187452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1</a:t>
            </a:r>
            <a:endParaRPr lang="en-US" sz="4000" dirty="0"/>
          </a:p>
        </p:txBody>
      </p:sp>
      <p:sp>
        <p:nvSpPr>
          <p:cNvPr id="6" name="text-335"/>
          <p:cNvSpPr txBox="1"/>
          <p:nvPr/>
        </p:nvSpPr>
        <p:spPr>
          <a:xfrm>
            <a:off x="548640" y="26517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Critical</a:t>
            </a:r>
            <a:endParaRPr lang="en-US" sz="1250" dirty="0"/>
          </a:p>
        </p:txBody>
      </p:sp>
      <p:sp>
        <p:nvSpPr>
          <p:cNvPr id="7" name="text-336"/>
          <p:cNvSpPr txBox="1"/>
          <p:nvPr/>
        </p:nvSpPr>
        <p:spPr>
          <a:xfrm>
            <a:off x="548640" y="28986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fixed</a:t>
            </a:r>
            <a:endParaRPr lang="en-US" sz="1100" dirty="0"/>
          </a:p>
        </p:txBody>
      </p:sp>
      <p:sp>
        <p:nvSpPr>
          <p:cNvPr id="8" name="card-337"/>
          <p:cNvSpPr/>
          <p:nvPr/>
        </p:nvSpPr>
        <p:spPr>
          <a:xfrm>
            <a:off x="1737360" y="1783080"/>
            <a:ext cx="1078992" cy="1463040"/>
          </a:xfrm>
          <a:prstGeom prst="roundRect">
            <a:avLst>
              <a:gd name="adj" fmla="val 1016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-338"/>
          <p:cNvSpPr txBox="1"/>
          <p:nvPr/>
        </p:nvSpPr>
        <p:spPr>
          <a:xfrm>
            <a:off x="1737360" y="187452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7</a:t>
            </a:r>
            <a:endParaRPr lang="en-US" sz="4000" dirty="0"/>
          </a:p>
        </p:txBody>
      </p:sp>
      <p:sp>
        <p:nvSpPr>
          <p:cNvPr id="10" name="text-339"/>
          <p:cNvSpPr txBox="1"/>
          <p:nvPr/>
        </p:nvSpPr>
        <p:spPr>
          <a:xfrm>
            <a:off x="1737360" y="26517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High</a:t>
            </a:r>
            <a:endParaRPr lang="en-US" sz="1250" dirty="0"/>
          </a:p>
        </p:txBody>
      </p:sp>
      <p:sp>
        <p:nvSpPr>
          <p:cNvPr id="11" name="text-340"/>
          <p:cNvSpPr txBox="1"/>
          <p:nvPr/>
        </p:nvSpPr>
        <p:spPr>
          <a:xfrm>
            <a:off x="1737360" y="28986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fixed</a:t>
            </a:r>
            <a:endParaRPr lang="en-US" sz="1100" dirty="0"/>
          </a:p>
        </p:txBody>
      </p:sp>
      <p:sp>
        <p:nvSpPr>
          <p:cNvPr id="12" name="card-341"/>
          <p:cNvSpPr/>
          <p:nvPr/>
        </p:nvSpPr>
        <p:spPr>
          <a:xfrm>
            <a:off x="2926080" y="1783080"/>
            <a:ext cx="1078992" cy="1463040"/>
          </a:xfrm>
          <a:prstGeom prst="roundRect">
            <a:avLst>
              <a:gd name="adj" fmla="val 1016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3" name="text-342"/>
          <p:cNvSpPr txBox="1"/>
          <p:nvPr/>
        </p:nvSpPr>
        <p:spPr>
          <a:xfrm>
            <a:off x="2926080" y="187452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14</a:t>
            </a:r>
            <a:endParaRPr lang="en-US" sz="4000" dirty="0"/>
          </a:p>
        </p:txBody>
      </p:sp>
      <p:sp>
        <p:nvSpPr>
          <p:cNvPr id="14" name="text-343"/>
          <p:cNvSpPr txBox="1"/>
          <p:nvPr/>
        </p:nvSpPr>
        <p:spPr>
          <a:xfrm>
            <a:off x="2926080" y="26517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Medium</a:t>
            </a:r>
            <a:endParaRPr lang="en-US" sz="1250" dirty="0"/>
          </a:p>
        </p:txBody>
      </p:sp>
      <p:sp>
        <p:nvSpPr>
          <p:cNvPr id="15" name="text-344"/>
          <p:cNvSpPr txBox="1"/>
          <p:nvPr/>
        </p:nvSpPr>
        <p:spPr>
          <a:xfrm>
            <a:off x="2926080" y="28986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fixed</a:t>
            </a:r>
            <a:endParaRPr lang="en-US" sz="1100" dirty="0"/>
          </a:p>
        </p:txBody>
      </p:sp>
      <p:sp>
        <p:nvSpPr>
          <p:cNvPr id="16" name="card-345"/>
          <p:cNvSpPr/>
          <p:nvPr/>
        </p:nvSpPr>
        <p:spPr>
          <a:xfrm>
            <a:off x="4114800" y="1783080"/>
            <a:ext cx="1078992" cy="1463040"/>
          </a:xfrm>
          <a:prstGeom prst="roundRect">
            <a:avLst>
              <a:gd name="adj" fmla="val 1016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7" name="text-346"/>
          <p:cNvSpPr txBox="1"/>
          <p:nvPr/>
        </p:nvSpPr>
        <p:spPr>
          <a:xfrm>
            <a:off x="4114800" y="187452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10</a:t>
            </a:r>
            <a:endParaRPr lang="en-US" sz="4000" dirty="0"/>
          </a:p>
        </p:txBody>
      </p:sp>
      <p:sp>
        <p:nvSpPr>
          <p:cNvPr id="18" name="text-347"/>
          <p:cNvSpPr txBox="1"/>
          <p:nvPr/>
        </p:nvSpPr>
        <p:spPr>
          <a:xfrm>
            <a:off x="4114800" y="26517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Low</a:t>
            </a:r>
            <a:endParaRPr lang="en-US" sz="1250" dirty="0"/>
          </a:p>
        </p:txBody>
      </p:sp>
      <p:sp>
        <p:nvSpPr>
          <p:cNvPr id="19" name="text-348"/>
          <p:cNvSpPr txBox="1"/>
          <p:nvPr/>
        </p:nvSpPr>
        <p:spPr>
          <a:xfrm>
            <a:off x="4114800" y="28986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fixed</a:t>
            </a:r>
            <a:endParaRPr lang="en-US" sz="1100" dirty="0"/>
          </a:p>
        </p:txBody>
      </p:sp>
      <p:sp>
        <p:nvSpPr>
          <p:cNvPr id="20" name="card-349"/>
          <p:cNvSpPr/>
          <p:nvPr/>
        </p:nvSpPr>
        <p:spPr>
          <a:xfrm>
            <a:off x="5303520" y="1783080"/>
            <a:ext cx="1078992" cy="1463040"/>
          </a:xfrm>
          <a:prstGeom prst="roundRect">
            <a:avLst>
              <a:gd name="adj" fmla="val 1016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1" name="text-350"/>
          <p:cNvSpPr txBox="1"/>
          <p:nvPr/>
        </p:nvSpPr>
        <p:spPr>
          <a:xfrm>
            <a:off x="5303520" y="187452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1</a:t>
            </a:r>
            <a:endParaRPr lang="en-US" sz="4000" dirty="0"/>
          </a:p>
        </p:txBody>
      </p:sp>
      <p:sp>
        <p:nvSpPr>
          <p:cNvPr id="22" name="text-351"/>
          <p:cNvSpPr txBox="1"/>
          <p:nvPr/>
        </p:nvSpPr>
        <p:spPr>
          <a:xfrm>
            <a:off x="5303520" y="26517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Info</a:t>
            </a:r>
            <a:endParaRPr lang="en-US" sz="1250" dirty="0"/>
          </a:p>
        </p:txBody>
      </p:sp>
      <p:sp>
        <p:nvSpPr>
          <p:cNvPr id="23" name="text-352"/>
          <p:cNvSpPr txBox="1"/>
          <p:nvPr/>
        </p:nvSpPr>
        <p:spPr>
          <a:xfrm>
            <a:off x="5303520" y="28986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fixed</a:t>
            </a:r>
            <a:endParaRPr lang="en-US" sz="1100" dirty="0"/>
          </a:p>
        </p:txBody>
      </p:sp>
      <p:sp>
        <p:nvSpPr>
          <p:cNvPr id="24" name="text-353"/>
          <p:cNvSpPr txBox="1"/>
          <p:nvPr/>
        </p:nvSpPr>
        <p:spPr>
          <a:xfrm>
            <a:off x="667512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Controls now in place</a:t>
            </a:r>
            <a:endParaRPr lang="en-US" sz="1800" dirty="0"/>
          </a:p>
        </p:txBody>
      </p:sp>
      <p:sp>
        <p:nvSpPr>
          <p:cNvPr id="25" name="text-354"/>
          <p:cNvSpPr txBox="1"/>
          <p:nvPr/>
        </p:nvSpPr>
        <p:spPr>
          <a:xfrm>
            <a:off x="6675120" y="219456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HTTPS (TLS 1.2+), HSTS, Secure / HttpOnly / SameSite cookies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Strict nonce-based CSP, anti-clickjacking, no-sniff headers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DNS-rebinding and CSRF protection on every request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Atomic login rate limit, PBKDF2 passwords, session revocation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SSRF guard, response caps, no redirects with API keys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XXE refusal; linear-time patterns; line, record and gzip caps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Hostile records isolated; per-analysis memory budget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Thread, memory and disk budgets for the live receiver</a:t>
            </a:r>
            <a:endParaRPr lang="en-US" sz="1350" dirty="0"/>
          </a:p>
        </p:txBody>
      </p:sp>
      <p:sp>
        <p:nvSpPr>
          <p:cNvPr id="26" name="card-355"/>
          <p:cNvSpPr/>
          <p:nvPr/>
        </p:nvSpPr>
        <p:spPr>
          <a:xfrm>
            <a:off x="548640" y="3520440"/>
            <a:ext cx="5806440" cy="2240280"/>
          </a:xfrm>
          <a:prstGeom prst="roundRect">
            <a:avLst>
              <a:gd name="adj" fmla="val 489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7" name="text-356"/>
          <p:cNvSpPr txBox="1"/>
          <p:nvPr/>
        </p:nvSpPr>
        <p:spPr>
          <a:xfrm>
            <a:off x="822960" y="3703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Method</a:t>
            </a:r>
            <a:endParaRPr lang="en-US" sz="1600" dirty="0"/>
          </a:p>
        </p:txBody>
      </p:sp>
      <p:sp>
        <p:nvSpPr>
          <p:cNvPr id="28" name="text-357"/>
          <p:cNvSpPr txBox="1"/>
          <p:nvPr/>
        </p:nvSpPr>
        <p:spPr>
          <a:xfrm>
            <a:off x="822960" y="4069080"/>
            <a:ext cx="5303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OWASP-style review of every endpoint, the web UI, parsers and file / network handling; attack reproduction (DNS rebinding, CSRF, XSS, SSRF, slowloris, login brute force, XXE, ReDoS, decompression, disk / memory exhaustion); bandit static analysis; 39 security regression tests run on every change.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Deployment in five steps</a:t>
            </a:r>
            <a:endParaRPr lang="en-US" sz="3200" dirty="0"/>
          </a:p>
        </p:txBody>
      </p:sp>
      <p:sp>
        <p:nvSpPr>
          <p:cNvPr id="3" name="num-358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4" name="text-359"/>
          <p:cNvSpPr txBox="1"/>
          <p:nvPr/>
        </p:nvSpPr>
        <p:spPr>
          <a:xfrm>
            <a:off x="54864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-360"/>
          <p:cNvSpPr txBox="1"/>
          <p:nvPr/>
        </p:nvSpPr>
        <p:spPr>
          <a:xfrm>
            <a:off x="1325880" y="130759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Install</a:t>
            </a:r>
            <a:endParaRPr lang="en-US" sz="1600" dirty="0"/>
          </a:p>
        </p:txBody>
      </p:sp>
      <p:sp>
        <p:nvSpPr>
          <p:cNvPr id="6" name="text-361"/>
          <p:cNvSpPr txBox="1"/>
          <p:nvPr/>
        </p:nvSpPr>
        <p:spPr>
          <a:xfrm>
            <a:off x="1325880" y="16184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./scripts/setup-linux.sh --model dolphin3 --service</a:t>
            </a:r>
            <a:endParaRPr lang="en-US" sz="1200" dirty="0"/>
          </a:p>
        </p:txBody>
      </p:sp>
      <p:sp>
        <p:nvSpPr>
          <p:cNvPr id="7" name="num-362"/>
          <p:cNvSpPr/>
          <p:nvPr/>
        </p:nvSpPr>
        <p:spPr>
          <a:xfrm>
            <a:off x="548640" y="2194560"/>
            <a:ext cx="566928" cy="566928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8" name="text-363"/>
          <p:cNvSpPr txBox="1"/>
          <p:nvPr/>
        </p:nvSpPr>
        <p:spPr>
          <a:xfrm>
            <a:off x="54864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-364"/>
          <p:cNvSpPr txBox="1"/>
          <p:nvPr/>
        </p:nvSpPr>
        <p:spPr>
          <a:xfrm>
            <a:off x="1325880" y="217627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Secure the login</a:t>
            </a:r>
            <a:endParaRPr lang="en-US" sz="1600" dirty="0"/>
          </a:p>
        </p:txBody>
      </p:sp>
      <p:sp>
        <p:nvSpPr>
          <p:cNvPr id="10" name="text-365"/>
          <p:cNvSpPr txBox="1"/>
          <p:nvPr/>
        </p:nvSpPr>
        <p:spPr>
          <a:xfrm>
            <a:off x="1325880" y="24871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agent.py set-password</a:t>
            </a:r>
            <a:endParaRPr lang="en-US" sz="1200" dirty="0"/>
          </a:p>
        </p:txBody>
      </p:sp>
      <p:sp>
        <p:nvSpPr>
          <p:cNvPr id="11" name="num-366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12" name="text-367"/>
          <p:cNvSpPr txBox="1"/>
          <p:nvPr/>
        </p:nvSpPr>
        <p:spPr>
          <a:xfrm>
            <a:off x="54864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-368"/>
          <p:cNvSpPr txBox="1"/>
          <p:nvPr/>
        </p:nvSpPr>
        <p:spPr>
          <a:xfrm>
            <a:off x="1325880" y="304495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Turn on HTTPS</a:t>
            </a:r>
            <a:endParaRPr lang="en-US" sz="1600" dirty="0"/>
          </a:p>
        </p:txBody>
      </p:sp>
      <p:sp>
        <p:nvSpPr>
          <p:cNvPr id="14" name="text-369"/>
          <p:cNvSpPr txBox="1"/>
          <p:nvPr/>
        </p:nvSpPr>
        <p:spPr>
          <a:xfrm>
            <a:off x="1325880" y="33558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agent.py make-cert --port 443</a:t>
            </a:r>
            <a:endParaRPr lang="en-US" sz="1200" dirty="0"/>
          </a:p>
        </p:txBody>
      </p:sp>
      <p:sp>
        <p:nvSpPr>
          <p:cNvPr id="15" name="num-370"/>
          <p:cNvSpPr/>
          <p:nvPr/>
        </p:nvSpPr>
        <p:spPr>
          <a:xfrm>
            <a:off x="548640" y="3931920"/>
            <a:ext cx="566928" cy="566928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16" name="text-371"/>
          <p:cNvSpPr txBox="1"/>
          <p:nvPr/>
        </p:nvSpPr>
        <p:spPr>
          <a:xfrm>
            <a:off x="54864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-372"/>
          <p:cNvSpPr txBox="1"/>
          <p:nvPr/>
        </p:nvSpPr>
        <p:spPr>
          <a:xfrm>
            <a:off x="1325880" y="391363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Describe your network</a:t>
            </a:r>
            <a:endParaRPr lang="en-US" sz="1600" dirty="0"/>
          </a:p>
        </p:txBody>
      </p:sp>
      <p:sp>
        <p:nvSpPr>
          <p:cNvPr id="18" name="text-373"/>
          <p:cNvSpPr txBox="1"/>
          <p:nvPr/>
        </p:nvSpPr>
        <p:spPr>
          <a:xfrm>
            <a:off x="1325880" y="42245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Trusted Networks &amp; Assets → import your ranges and servers</a:t>
            </a:r>
            <a:endParaRPr lang="en-US" sz="1200" dirty="0"/>
          </a:p>
        </p:txBody>
      </p:sp>
      <p:sp>
        <p:nvSpPr>
          <p:cNvPr id="19" name="num-374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20" name="text-375"/>
          <p:cNvSpPr txBox="1"/>
          <p:nvPr/>
        </p:nvSpPr>
        <p:spPr>
          <a:xfrm>
            <a:off x="54864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-376"/>
          <p:cNvSpPr txBox="1"/>
          <p:nvPr/>
        </p:nvSpPr>
        <p:spPr>
          <a:xfrm>
            <a:off x="1325880" y="478231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Connect the SIEM</a:t>
            </a:r>
            <a:endParaRPr lang="en-US" sz="1600" dirty="0"/>
          </a:p>
        </p:txBody>
      </p:sp>
      <p:sp>
        <p:nvSpPr>
          <p:cNvPr id="22" name="text-377"/>
          <p:cNvSpPr txBox="1"/>
          <p:nvPr/>
        </p:nvSpPr>
        <p:spPr>
          <a:xfrm>
            <a:off x="1325880" y="50932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window → turn on → point Splunk / Wazuh at the ingest URL</a:t>
            </a:r>
            <a:endParaRPr lang="en-US" sz="1200" dirty="0"/>
          </a:p>
        </p:txBody>
      </p:sp>
      <p:sp>
        <p:nvSpPr>
          <p:cNvPr id="23" name="card-378"/>
          <p:cNvSpPr/>
          <p:nvPr/>
        </p:nvSpPr>
        <p:spPr>
          <a:xfrm>
            <a:off x="7315200" y="1325880"/>
            <a:ext cx="4325112" cy="3246120"/>
          </a:xfrm>
          <a:prstGeom prst="roundRect">
            <a:avLst>
              <a:gd name="adj" fmla="val 3380"/>
            </a:avLst>
          </a:prstGeom>
          <a:solidFill>
            <a:srgbClr val="123E6B"/>
          </a:solidFill>
          <a:ln w="12700">
            <a:solidFill>
              <a:srgbClr val="123E6B"/>
            </a:solidFill>
            <a:prstDash val="solid"/>
          </a:ln>
        </p:spPr>
      </p:sp>
      <p:sp>
        <p:nvSpPr>
          <p:cNvPr id="24" name="text-379"/>
          <p:cNvSpPr txBox="1"/>
          <p:nvPr/>
        </p:nvSpPr>
        <p:spPr>
          <a:xfrm>
            <a:off x="763524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Reference server</a:t>
            </a:r>
            <a:endParaRPr lang="en-US" sz="1800" dirty="0"/>
          </a:p>
        </p:txBody>
      </p:sp>
      <p:sp>
        <p:nvSpPr>
          <p:cNvPr id="25" name="text-380"/>
          <p:cNvSpPr txBox="1"/>
          <p:nvPr/>
        </p:nvSpPr>
        <p:spPr>
          <a:xfrm>
            <a:off x="7635240" y="20574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CPU: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8-16 cores, no GPU needed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RAM: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64 GB (models stay loaded)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Disk: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1 TB HDD (SSD optional)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OS: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Ubuntu / Debian / RHEL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Speed: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~9,000 events/s; 8-20 tokens/s AI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 can do next</a:t>
            </a:r>
            <a:endParaRPr lang="en-US" sz="3200" dirty="0"/>
          </a:p>
        </p:txBody>
      </p:sp>
      <p:sp>
        <p:nvSpPr>
          <p:cNvPr id="3" name="phase-381"/>
          <p:cNvSpPr/>
          <p:nvPr/>
        </p:nvSpPr>
        <p:spPr>
          <a:xfrm>
            <a:off x="548640" y="1325880"/>
            <a:ext cx="3520440" cy="594360"/>
          </a:xfrm>
          <a:prstGeom prst="roundRect">
            <a:avLst>
              <a:gd name="adj" fmla="val 15385"/>
            </a:avLst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4" name="text-382"/>
          <p:cNvSpPr txBox="1"/>
          <p:nvPr/>
        </p:nvSpPr>
        <p:spPr>
          <a:xfrm>
            <a:off x="548640" y="1325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Next 3 months</a:t>
            </a:r>
            <a:endParaRPr lang="en-US" sz="1800" dirty="0"/>
          </a:p>
        </p:txBody>
      </p:sp>
      <p:sp>
        <p:nvSpPr>
          <p:cNvPr id="5" name="card-383"/>
          <p:cNvSpPr/>
          <p:nvPr/>
        </p:nvSpPr>
        <p:spPr>
          <a:xfrm>
            <a:off x="548640" y="210312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-384"/>
          <p:cNvSpPr txBox="1"/>
          <p:nvPr/>
        </p:nvSpPr>
        <p:spPr>
          <a:xfrm>
            <a:off x="822960" y="23774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Sigma rule import &amp; export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Email / Slack / Teams alerting from the Live window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Multi-user roles (admin, analyst, viewer)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Docker image and Windows installer</a:t>
            </a:r>
            <a:endParaRPr lang="en-US" sz="1600" dirty="0"/>
          </a:p>
        </p:txBody>
      </p:sp>
      <p:sp>
        <p:nvSpPr>
          <p:cNvPr id="7" name="phase-385"/>
          <p:cNvSpPr/>
          <p:nvPr/>
        </p:nvSpPr>
        <p:spPr>
          <a:xfrm>
            <a:off x="4315968" y="1325880"/>
            <a:ext cx="3520440" cy="594360"/>
          </a:xfrm>
          <a:prstGeom prst="roundRect">
            <a:avLst>
              <a:gd name="adj" fmla="val 15385"/>
            </a:avLst>
          </a:prstGeom>
          <a:solidFill>
            <a:srgbClr val="2F6DB0"/>
          </a:solidFill>
          <a:ln w="12700">
            <a:solidFill>
              <a:srgbClr val="2F6DB0"/>
            </a:solidFill>
            <a:prstDash val="solid"/>
          </a:ln>
        </p:spPr>
      </p:sp>
      <p:sp>
        <p:nvSpPr>
          <p:cNvPr id="8" name="text-386"/>
          <p:cNvSpPr txBox="1"/>
          <p:nvPr/>
        </p:nvSpPr>
        <p:spPr>
          <a:xfrm>
            <a:off x="4315968" y="1325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3-6 months</a:t>
            </a:r>
            <a:endParaRPr lang="en-US" sz="1800" dirty="0"/>
          </a:p>
        </p:txBody>
      </p:sp>
      <p:sp>
        <p:nvSpPr>
          <p:cNvPr id="9" name="card-387"/>
          <p:cNvSpPr/>
          <p:nvPr/>
        </p:nvSpPr>
        <p:spPr>
          <a:xfrm>
            <a:off x="4315968" y="210312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-388"/>
          <p:cNvSpPr txBox="1"/>
          <p:nvPr/>
        </p:nvSpPr>
        <p:spPr>
          <a:xfrm>
            <a:off x="4590288" y="23774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STIX / TAXII and MISP threat-intel feeds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Case management: assignments, notes, SLA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MITRE ATT&amp;CK Navigator export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GPU acceleration and larger models</a:t>
            </a:r>
            <a:endParaRPr lang="en-US" sz="1600" dirty="0"/>
          </a:p>
        </p:txBody>
      </p:sp>
      <p:sp>
        <p:nvSpPr>
          <p:cNvPr id="11" name="phase-389"/>
          <p:cNvSpPr/>
          <p:nvPr/>
        </p:nvSpPr>
        <p:spPr>
          <a:xfrm>
            <a:off x="8083296" y="1325880"/>
            <a:ext cx="3520440" cy="594360"/>
          </a:xfrm>
          <a:prstGeom prst="roundRect">
            <a:avLst>
              <a:gd name="adj" fmla="val 15385"/>
            </a:avLst>
          </a:prstGeom>
          <a:solidFill>
            <a:srgbClr val="F59E1E"/>
          </a:solidFill>
          <a:ln w="12700">
            <a:solidFill>
              <a:srgbClr val="F59E1E"/>
            </a:solidFill>
            <a:prstDash val="solid"/>
          </a:ln>
        </p:spPr>
      </p:sp>
      <p:sp>
        <p:nvSpPr>
          <p:cNvPr id="12" name="text-390"/>
          <p:cNvSpPr txBox="1"/>
          <p:nvPr/>
        </p:nvSpPr>
        <p:spPr>
          <a:xfrm>
            <a:off x="8083296" y="1325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6-12 months</a:t>
            </a:r>
            <a:endParaRPr lang="en-US" sz="1800" dirty="0"/>
          </a:p>
        </p:txBody>
      </p:sp>
      <p:sp>
        <p:nvSpPr>
          <p:cNvPr id="13" name="card-391"/>
          <p:cNvSpPr/>
          <p:nvPr/>
        </p:nvSpPr>
        <p:spPr>
          <a:xfrm>
            <a:off x="8083296" y="210312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4" name="text-392"/>
          <p:cNvSpPr txBox="1"/>
          <p:nvPr/>
        </p:nvSpPr>
        <p:spPr>
          <a:xfrm>
            <a:off x="8357616" y="23774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SOAR actions with an approval workflow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EDR / firewall API integrations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ML anomaly models trained on your history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Multi-tenant MSSP mode with per-client branding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CyberSec AI Agent - offline detection, AI investigation, forensics and reporting on your own server.  github.com/nehraeduhub/CyberSecuirty</a:t>
            </a:r>
            <a:endParaRPr lang="en-US" sz="1800" dirty="0"/>
          </a:p>
        </p:txBody>
      </p:sp>
      <p:sp>
        <p:nvSpPr>
          <p:cNvPr id="4" name="icon-bg-393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rgbClr val="1E9E4F"/>
          </a:solidFill>
          <a:ln w="12700">
            <a:solidFill>
              <a:srgbClr val="1E9E4F"/>
            </a:solidFill>
            <a:prstDash val="solid"/>
          </a:ln>
        </p:spPr>
      </p:sp>
      <p:pic>
        <p:nvPicPr>
          <p:cNvPr id="5" name="icon-3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547165"/>
            <a:ext cx="380390" cy="3803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Guardians">
  <a:themeElements>
    <a:clrScheme name="Tech Guardians">
      <a:dk1>
        <a:srgbClr val="0B1A2B"/>
      </a:dk1>
      <a:lt1>
        <a:srgbClr val="FFFFFF"/>
      </a:lt1>
      <a:dk2>
        <a:srgbClr val="123E6B"/>
      </a:dk2>
      <a:lt2>
        <a:srgbClr val="EEF3F9"/>
      </a:lt2>
      <a:accent1>
        <a:srgbClr val="1E9E4F"/>
      </a:accent1>
      <a:accent2>
        <a:srgbClr val="F59E1E"/>
      </a:accent2>
      <a:accent3>
        <a:srgbClr val="2F6DB0"/>
      </a:accent3>
      <a:accent4>
        <a:srgbClr val="C4122F"/>
      </a:accent4>
      <a:accent5>
        <a:srgbClr val="5A6470"/>
      </a:accent5>
      <a:accent6>
        <a:srgbClr val="B58400"/>
      </a:accent6>
      <a:hlink>
        <a:srgbClr val="2F6DB0"/>
      </a:hlink>
      <a:folHlink>
        <a:srgbClr val="5A6470"/>
      </a:folHlink>
    </a:clrScheme>
    <a:fontScheme name="Tech Guardia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Tech Guardians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 AI Agent</dc:title>
  <dc:subject>PptxGenJS Presentation</dc:subject>
  <dc:creator>Rajesh Nehra</dc:creator>
  <cp:lastModifiedBy>Rajesh Nehra</cp:lastModifiedBy>
  <cp:revision>1</cp:revision>
  <dcterms:created xsi:type="dcterms:W3CDTF">2026-10-23T18:19:03Z</dcterms:created>
  <dcterms:modified xsi:type="dcterms:W3CDTF">2026-10-23T18:19:03Z</dcterms:modified>
</cp:coreProperties>
</file>